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38"/>
  </p:notesMasterIdLst>
  <p:handoutMasterIdLst>
    <p:handoutMasterId r:id="rId39"/>
  </p:handoutMasterIdLst>
  <p:sldIdLst>
    <p:sldId id="275" r:id="rId5"/>
    <p:sldId id="301" r:id="rId6"/>
    <p:sldId id="265" r:id="rId7"/>
    <p:sldId id="300" r:id="rId8"/>
    <p:sldId id="277" r:id="rId9"/>
    <p:sldId id="278" r:id="rId10"/>
    <p:sldId id="279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69" r:id="rId37"/>
    <p:sldId id="293" r:id="rId24"/>
    <p:sldId id="294" r:id="rId25"/>
    <p:sldId id="295" r:id="rId26"/>
    <p:sldId id="296" r:id="rId27"/>
    <p:sldId id="280" r:id="rId29"/>
    <p:sldId id="270" r:id="rId31"/>
    <p:sldId id="271" r:id="rId33"/>
    <p:sldId id="273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12BA22-9A83-B4B4-40A4-7557460E6938}" v="3" dt="2026-07-10T11:16:46.9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3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microsoft.com/office/2016/11/relationships/changesInfo" Target="changesInfos/changesInfo1.xml"/><Relationship Id="rId4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Viet Hoang 20222279" userId="e1b24df1-025f-4f33-9eee-6d0fed29f616" providerId="ADAL" clId="{646C1D4B-282E-4F83-887C-A72FD3E59F62}"/>
    <pc:docChg chg="undo custSel delSld modSld">
      <pc:chgData name="Le Viet Hoang 20222279" userId="e1b24df1-025f-4f33-9eee-6d0fed29f616" providerId="ADAL" clId="{646C1D4B-282E-4F83-887C-A72FD3E59F62}" dt="2026-07-04T16:13:02.447" v="17"/>
      <pc:docMkLst>
        <pc:docMk/>
      </pc:docMkLst>
      <pc:sldChg chg="addSp delSp modSp">
        <pc:chgData name="Le Viet Hoang 20222279" userId="e1b24df1-025f-4f33-9eee-6d0fed29f616" providerId="ADAL" clId="{646C1D4B-282E-4F83-887C-A72FD3E59F62}" dt="2026-07-04T16:13:02.447" v="17"/>
        <pc:sldMkLst>
          <pc:docMk/>
          <pc:sldMk cId="3880512072" sldId="301"/>
        </pc:sldMkLst>
        <pc:spChg chg="add mod">
          <ac:chgData name="Le Viet Hoang 20222279" userId="e1b24df1-025f-4f33-9eee-6d0fed29f616" providerId="ADAL" clId="{646C1D4B-282E-4F83-887C-A72FD3E59F62}" dt="2026-07-04T16:12:52.238" v="16" actId="20577"/>
          <ac:spMkLst>
            <pc:docMk/>
            <pc:sldMk cId="3880512072" sldId="301"/>
            <ac:spMk id="4" creationId="{ECBBAEA5-A814-4F47-8EFF-7CEF75F23F30}"/>
          </ac:spMkLst>
        </pc:spChg>
        <pc:spChg chg="add">
          <ac:chgData name="Le Viet Hoang 20222279" userId="e1b24df1-025f-4f33-9eee-6d0fed29f616" providerId="ADAL" clId="{646C1D4B-282E-4F83-887C-A72FD3E59F62}" dt="2026-07-04T16:13:02.447" v="17"/>
          <ac:spMkLst>
            <pc:docMk/>
            <pc:sldMk cId="3880512072" sldId="301"/>
            <ac:spMk id="6" creationId="{14B7954E-B085-43D4-A0D3-DD9B83E3F214}"/>
          </ac:spMkLst>
        </pc:spChg>
      </pc:sldChg>
      <pc:sldMasterChg chg="delSldLayout">
        <pc:chgData name="Le Viet Hoang 20222279" userId="e1b24df1-025f-4f33-9eee-6d0fed29f616" providerId="ADAL" clId="{646C1D4B-282E-4F83-887C-A72FD3E59F62}" dt="2026-07-04T14:37:39.926" v="1" actId="2696"/>
        <pc:sldMasterMkLst>
          <pc:docMk/>
          <pc:sldMasterMk cId="2819895280" sldId="2147483658"/>
        </pc:sldMasterMkLst>
      </pc:sldMasterChg>
    </pc:docChg>
  </pc:docChgLst>
  <pc:docChgLst>
    <pc:chgData name="Mai Tuan Anh 20222450" userId="S::anh.mt222450@sis.hust.edu.vn::4bf1c47f-b811-4898-9f65-fb82964a6b9e" providerId="AD" clId="Web-{90960DBC-C69E-5670-D6DD-1752835B4B6E}"/>
    <pc:docChg chg="delSld modSld">
      <pc:chgData name="Mai Tuan Anh 20222450" userId="S::anh.mt222450@sis.hust.edu.vn::4bf1c47f-b811-4898-9f65-fb82964a6b9e" providerId="AD" clId="Web-{90960DBC-C69E-5670-D6DD-1752835B4B6E}" dt="2026-06-28T12:45:30.790" v="21"/>
      <pc:docMkLst>
        <pc:docMk/>
      </pc:docMkLst>
      <pc:sldChg chg="addSp delSp modSp">
        <pc:chgData name="Mai Tuan Anh 20222450" userId="S::anh.mt222450@sis.hust.edu.vn::4bf1c47f-b811-4898-9f65-fb82964a6b9e" providerId="AD" clId="Web-{90960DBC-C69E-5670-D6DD-1752835B4B6E}" dt="2026-06-28T12:44:26.850" v="18" actId="20577"/>
        <pc:sldMkLst>
          <pc:docMk/>
          <pc:sldMk cId="292364014" sldId="265"/>
        </pc:sldMkLst>
        <pc:spChg chg="mod">
          <ac:chgData name="Mai Tuan Anh 20222450" userId="S::anh.mt222450@sis.hust.edu.vn::4bf1c47f-b811-4898-9f65-fb82964a6b9e" providerId="AD" clId="Web-{90960DBC-C69E-5670-D6DD-1752835B4B6E}" dt="2026-06-28T12:44:26.850" v="18" actId="20577"/>
          <ac:spMkLst>
            <pc:docMk/>
            <pc:sldMk cId="292364014" sldId="265"/>
            <ac:spMk id="3" creationId="{9EF27CAA-32BA-4E6B-B8C0-1A481E08E81D}"/>
          </ac:spMkLst>
        </pc:spChg>
        <pc:spChg chg="add mod">
          <ac:chgData name="Mai Tuan Anh 20222450" userId="S::anh.mt222450@sis.hust.edu.vn::4bf1c47f-b811-4898-9f65-fb82964a6b9e" providerId="AD" clId="Web-{90960DBC-C69E-5670-D6DD-1752835B4B6E}" dt="2026-06-28T12:44:22.959" v="17" actId="14100"/>
          <ac:spMkLst>
            <pc:docMk/>
            <pc:sldMk cId="292364014" sldId="265"/>
            <ac:spMk id="5" creationId="{8E57EAA0-49FA-7118-30AC-C2236D23D2F1}"/>
          </ac:spMkLst>
        </pc:spChg>
      </pc:sldChg>
    </pc:docChg>
  </pc:docChgLst>
  <pc:docChgLst>
    <pc:chgData name="Mai Tuan Anh 20222450" userId="S::anh.mt222450@sis.hust.edu.vn::4bf1c47f-b811-4898-9f65-fb82964a6b9e" providerId="AD" clId="Web-{0EDF52CE-1F82-720C-731E-A637B7C0B4ED}"/>
    <pc:docChg chg="addSld delSld">
      <pc:chgData name="Mai Tuan Anh 20222450" userId="S::anh.mt222450@sis.hust.edu.vn::4bf1c47f-b811-4898-9f65-fb82964a6b9e" providerId="AD" clId="Web-{0EDF52CE-1F82-720C-731E-A637B7C0B4ED}" dt="2026-06-28T13:07:00.483" v="1"/>
      <pc:docMkLst>
        <pc:docMk/>
      </pc:docMkLst>
      <pc:sldChg chg="add">
        <pc:chgData name="Mai Tuan Anh 20222450" userId="S::anh.mt222450@sis.hust.edu.vn::4bf1c47f-b811-4898-9f65-fb82964a6b9e" providerId="AD" clId="Web-{0EDF52CE-1F82-720C-731E-A637B7C0B4ED}" dt="2026-06-28T13:06:43.123" v="0"/>
        <pc:sldMkLst>
          <pc:docMk/>
          <pc:sldMk cId="3880512072" sldId="301"/>
        </pc:sldMkLst>
      </pc:sldChg>
    </pc:docChg>
  </pc:docChgLst>
  <pc:docChgLst>
    <pc:chgData name="Tran Hai Duong 20222253" userId="S::duong.th222253@sis.hust.edu.vn::40e9b697-6731-42ba-bc07-16fabac392e0" providerId="AD" clId="Web-{F6F9A89E-4961-EC85-9AD9-549710B2B89B}"/>
    <pc:docChg chg="modSld">
      <pc:chgData name="Tran Hai Duong 20222253" userId="S::duong.th222253@sis.hust.edu.vn::40e9b697-6731-42ba-bc07-16fabac392e0" providerId="AD" clId="Web-{F6F9A89E-4961-EC85-9AD9-549710B2B89B}" dt="2026-07-03T16:38:37.685" v="13"/>
      <pc:docMkLst>
        <pc:docMk/>
      </pc:docMkLst>
      <pc:sldChg chg="addSp delSp modSp">
        <pc:chgData name="Tran Hai Duong 20222253" userId="S::duong.th222253@sis.hust.edu.vn::40e9b697-6731-42ba-bc07-16fabac392e0" providerId="AD" clId="Web-{F6F9A89E-4961-EC85-9AD9-549710B2B89B}" dt="2026-07-03T16:38:37.685" v="13"/>
        <pc:sldMkLst>
          <pc:docMk/>
          <pc:sldMk cId="3880512072" sldId="301"/>
        </pc:sldMkLst>
      </pc:sldChg>
    </pc:docChg>
  </pc:docChgLst>
  <pc:docChgLst>
    <pc:chgData name="Bui Xuan Quoc 20212452" userId="S::quoc.bx212452@sis.hust.edu.vn::e7bfb43a-3a11-4b72-aa95-5602d8fac9ed" providerId="AD" clId="Web-{DE9A8786-A9BF-36E5-5278-656D7E3D542B}"/>
    <pc:docChg chg="modSld">
      <pc:chgData name="Bui Xuan Quoc 20212452" userId="S::quoc.bx212452@sis.hust.edu.vn::e7bfb43a-3a11-4b72-aa95-5602d8fac9ed" providerId="AD" clId="Web-{DE9A8786-A9BF-36E5-5278-656D7E3D542B}" dt="2026-06-29T02:10:55.319" v="53" actId="20577"/>
      <pc:docMkLst>
        <pc:docMk/>
      </pc:docMkLst>
    </pc:docChg>
  </pc:docChgLst>
  <pc:docChgLst>
    <pc:chgData name="Nguyen Quang Huy 20222555" userId="S::huy.nq222555@sis.hust.edu.vn::2e287bde-e9aa-43fa-af7c-e1b6ace7e221" providerId="AD" clId="Web-{8812BA22-9A83-B4B4-40A4-7557460E6938}"/>
    <pc:docChg chg="modSld">
      <pc:chgData name="Nguyen Quang Huy 20222555" userId="S::huy.nq222555@sis.hust.edu.vn::2e287bde-e9aa-43fa-af7c-e1b6ace7e221" providerId="AD" clId="Web-{8812BA22-9A83-B4B4-40A4-7557460E6938}" dt="2026-07-10T11:16:46.961" v="2" actId="20577"/>
      <pc:docMkLst>
        <pc:docMk/>
      </pc:docMkLst>
      <pc:sldChg chg="modSp">
        <pc:chgData name="Nguyen Quang Huy 20222555" userId="S::huy.nq222555@sis.hust.edu.vn::2e287bde-e9aa-43fa-af7c-e1b6ace7e221" providerId="AD" clId="Web-{8812BA22-9A83-B4B4-40A4-7557460E6938}" dt="2026-07-10T11:16:46.961" v="2" actId="20577"/>
        <pc:sldMkLst>
          <pc:docMk/>
          <pc:sldMk cId="3880512072" sldId="301"/>
        </pc:sldMkLst>
        <pc:spChg chg="mod">
          <ac:chgData name="Nguyen Quang Huy 20222555" userId="S::huy.nq222555@sis.hust.edu.vn::2e287bde-e9aa-43fa-af7c-e1b6ace7e221" providerId="AD" clId="Web-{8812BA22-9A83-B4B4-40A4-7557460E6938}" dt="2026-07-10T11:16:46.961" v="2" actId="20577"/>
          <ac:spMkLst>
            <pc:docMk/>
            <pc:sldMk cId="3880512072" sldId="301"/>
            <ac:spMk id="6" creationId="{14B7954E-B085-43D4-A0D3-DD9B83E3F214}"/>
          </ac:spMkLst>
        </pc:spChg>
      </pc:sldChg>
    </pc:docChg>
  </pc:docChgLst>
  <pc:docChgLst>
    <pc:chgData name="Nguyen Dinh Chien 20222467" userId="S::chien.nd222467@sis.hust.edu.vn::e8d705e8-e52b-4079-93aa-607abfd2ceff" providerId="AD" clId="Web-{065F1173-C382-3665-1E92-4F8AAB066BFD}"/>
    <pc:docChg chg="modSld">
      <pc:chgData name="Nguyen Dinh Chien 20222467" userId="S::chien.nd222467@sis.hust.edu.vn::e8d705e8-e52b-4079-93aa-607abfd2ceff" providerId="AD" clId="Web-{065F1173-C382-3665-1E92-4F8AAB066BFD}" dt="2026-07-04T09:17:24.780" v="1" actId="1076"/>
      <pc:docMkLst>
        <pc:docMk/>
      </pc:docMkLst>
      <pc:sldChg chg="modSp">
        <pc:chgData name="Nguyen Dinh Chien 20222467" userId="S::chien.nd222467@sis.hust.edu.vn::e8d705e8-e52b-4079-93aa-607abfd2ceff" providerId="AD" clId="Web-{065F1173-C382-3665-1E92-4F8AAB066BFD}" dt="2026-07-04T09:17:24.780" v="1" actId="1076"/>
        <pc:sldMkLst>
          <pc:docMk/>
          <pc:sldMk cId="3880512072" sldId="301"/>
        </pc:sldMkLst>
      </pc:sldChg>
    </pc:docChg>
  </pc:docChgLst>
  <pc:docChgLst>
    <pc:chgData name="Mai Tuan Anh 20222450" userId="S::anh.mt222450@sis.hust.edu.vn::4bf1c47f-b811-4898-9f65-fb82964a6b9e" providerId="AD" clId="Web-{50170962-5C61-FAC4-7AEB-D976C4440CCD}"/>
    <pc:docChg chg="modSld">
      <pc:chgData name="Mai Tuan Anh 20222450" userId="S::anh.mt222450@sis.hust.edu.vn::4bf1c47f-b811-4898-9f65-fb82964a6b9e" providerId="AD" clId="Web-{50170962-5C61-FAC4-7AEB-D976C4440CCD}" dt="2026-06-27T14:27:53.472" v="62"/>
      <pc:docMkLst>
        <pc:docMk/>
      </pc:docMkLst>
    </pc:docChg>
  </pc:docChgLst>
  <pc:docChgLst>
    <pc:chgData name="Mai Tuan Anh 20222450" userId="4bf1c47f-b811-4898-9f65-fb82964a6b9e" providerId="ADAL" clId="{D9E2ACCB-1225-414A-A284-071D5DF0A79E}"/>
    <pc:docChg chg="undo custSel modSld">
      <pc:chgData name="Mai Tuan Anh 20222450" userId="4bf1c47f-b811-4898-9f65-fb82964a6b9e" providerId="ADAL" clId="{D9E2ACCB-1225-414A-A284-071D5DF0A79E}" dt="2026-06-27T18:48:39.709" v="802" actId="14100"/>
      <pc:docMkLst>
        <pc:docMk/>
      </pc:docMkLst>
      <pc:sldChg chg="addSp delSp modSp mod setBg">
        <pc:chgData name="Mai Tuan Anh 20222450" userId="4bf1c47f-b811-4898-9f65-fb82964a6b9e" providerId="ADAL" clId="{D9E2ACCB-1225-414A-A284-071D5DF0A79E}" dt="2026-06-27T16:01:54.593" v="248" actId="14100"/>
        <pc:sldMkLst>
          <pc:docMk/>
          <pc:sldMk cId="292364014" sldId="265"/>
        </pc:sldMkLst>
        <pc:spChg chg="mod ord">
          <ac:chgData name="Mai Tuan Anh 20222450" userId="4bf1c47f-b811-4898-9f65-fb82964a6b9e" providerId="ADAL" clId="{D9E2ACCB-1225-414A-A284-071D5DF0A79E}" dt="2026-06-27T15:58:16.643" v="180" actId="26606"/>
          <ac:spMkLst>
            <pc:docMk/>
            <pc:sldMk cId="292364014" sldId="265"/>
            <ac:spMk id="2" creationId="{A7101F79-2CBF-4392-B538-B0B5700DB4C6}"/>
          </ac:spMkLst>
        </pc:spChg>
        <pc:spChg chg="mod">
          <ac:chgData name="Mai Tuan Anh 20222450" userId="4bf1c47f-b811-4898-9f65-fb82964a6b9e" providerId="ADAL" clId="{D9E2ACCB-1225-414A-A284-071D5DF0A79E}" dt="2026-06-27T15:58:16.643" v="180" actId="26606"/>
          <ac:spMkLst>
            <pc:docMk/>
            <pc:sldMk cId="292364014" sldId="265"/>
            <ac:spMk id="3" creationId="{9EF27CAA-32BA-4E6B-B8C0-1A481E08E81D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Chào hội đồng, giới thiệu bản thân, tên đề tài, GVHD.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phần; nhấn: phần 5 là các kết quả tiếp tục phát triển sau khi hoàn thành quyển.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Bám mục 1.1 và 1.1.3 của quyển. Nhấn bài toán kinh tế: tận dụng hạ tầng sẵn có.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Viết dạng chỉ tiêu đo được — slide kết luận sẽ đối chiếu tick từng dòng.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xương sống. Nói chậm luồng dữ liệu; nhấn always-on chỉ có mic.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các quyết định đo lường: Nyquist, dải lọc, cửa sổ trượt. Chuẩn bị trả lời vì sao 22050 Hz.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Không đi sâu kiến trúc mạng. Nếu bị hỏi: backup B4 có Kalman 8 trạng thái + Hungarian.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Trọng tâm phương pháp. Nói vì sao dùng trung vị (bền vững với đỉnh nhiễu cục bộ).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Bám quyển 2.7–2.8. Câu "camera chỉnh được exposure" là mồi dẫn cho slide exposure và phần mở rộng.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 trận nhầm lẫn (trái) + PR curve (phải). Đọc đúng 2 con số: 99% và AUC 0,9982, không sa đà.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thực chiến — hội đồng thích số thực địa hơn số test. Nói rõ điều kiện đo.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Nói chậm cặp đối chứng ID104 vs ID13 — đây là minh chứng phép đo phân biệt đúng.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Phát hiện "đo lường" đắt giá của đồ án — dẫn thẳng sang phần mở rộng (vòng điều khiển iris).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Bảng 3-5 + 3-6 của quyển gộp lại. Biện luận thời gian thực bằng cơ chế suy luận thưa.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Đối chiếu mục tiêu ↔ kết quả (tiêu chí chấm). Hạn chế nói thẳng — dẫn sang phần mở rộng.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màn phần mở rộng bằng câu định vị. Không nói quá 45 giây phần cứng nếu hội đồng không hỏi thêm.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Chỉ nói "đã làm" với cái có số liệu. Backup B7 có bảng so sánh 2 vòng điều khiển nếu bị hỏi sâu.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Ngắn gọn 30 giây rồi sang slide cảm 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B1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B2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B3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B4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B5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B6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B7 — chỉ mở khi hội đồng hỏi sâu phần điều khiển.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B8 — chủ động dùng khi bị hỏi về sai số phép đo.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74" r:id="rId4"/>
    <p:sldLayoutId id="2147483675" r:id="rId5"/>
    <p:sldLayoutId id="2147483683" r:id="rId6"/>
    <p:sldLayoutId id="2147483676" r:id="rId7"/>
    <p:sldLayoutId id="2147483679" r:id="rId8"/>
    <p:sldLayoutId id="2147483680" r:id="rId9"/>
    <p:sldLayoutId id="2147483681" r:id="rId10"/>
    <p:sldLayoutId id="2147483682" r:id="rId11"/>
    <p:sldLayoutId id="214748367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6A774-9C93-177E-B284-CA6B5E77B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816559CF-0E28-449B-1223-D3D2EA1722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4" name="Title 6">
            <a:extLst>
              <a:ext uri="{FF2B5EF4-FFF2-40B4-BE49-F238E27FC236}">
                <a16:creationId xmlns:a16="http://schemas.microsoft.com/office/drawing/2014/main" id="{ECBBAEA5-A814-4F47-8EFF-7CEF75F23F30}"/>
              </a:ext>
            </a:extLst>
          </p:cNvPr>
          <p:cNvSpPr txBox="1">
            <a:spLocks/>
          </p:cNvSpPr>
          <p:nvPr/>
        </p:nvSpPr>
        <p:spPr>
          <a:xfrm>
            <a:off x="0" y="2015527"/>
            <a:ext cx="10744108" cy="14134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 err="1"/>
              <a:t>ĐỒ ÁN TỐT NGHIỆP</a:t>
            </a:r>
            <a:r>
              <a:rPr lang="en-US" sz="4800" dirty="0"/>
              <a:t/>
            </a:r>
            <a:r>
              <a:rPr lang="en-US" sz="4800" dirty="0" err="1"/>
              <a:t/>
            </a:r>
            <a:r>
              <a:rPr lang="en-US" sz="4800" dirty="0"/>
              <a:t/>
            </a:r>
            <a:r>
              <a:rPr lang="en-US" sz="4800" dirty="0" err="1"/>
              <a:t/>
            </a:r>
            <a:r>
              <a:rPr lang="en-US" sz="4800" dirty="0"/>
              <a:t/>
            </a:r>
            <a:r>
              <a:rPr lang="en-US" sz="4800" dirty="0" err="1"/>
              <a:t/>
            </a:r>
            <a:r>
              <a:rPr lang="en-US" sz="4800" dirty="0"/>
              <a:t/>
            </a:r>
            <a:r>
              <a:rPr lang="en-US" sz="4800" dirty="0" err="1"/>
              <a:t/>
            </a:r>
            <a:r>
              <a:rPr lang="en-US" sz="4800" dirty="0"/>
              <a:t/>
            </a:r>
            <a:r>
              <a:rPr lang="en-US" sz="4800" dirty="0" err="1"/>
              <a:t/>
            </a:r>
            <a:endParaRPr lang="en-US" sz="4800" dirty="0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14B7954E-B085-43D4-A0D3-DD9B83E3F214}"/>
              </a:ext>
            </a:extLst>
          </p:cNvPr>
          <p:cNvSpPr txBox="1">
            <a:spLocks/>
          </p:cNvSpPr>
          <p:nvPr/>
        </p:nvSpPr>
        <p:spPr>
          <a:xfrm>
            <a:off x="220379" y="2866471"/>
            <a:ext cx="6309360" cy="1737360"/>
          </a:xfrm>
          <a:prstGeom prst="rect">
            <a:avLst/>
          </a:prstGeom>
        </p:spPr>
        <p:txBody>
          <a:bodyPr lIns="91440" tIns="45720" rIns="91440" bIns="45720" anchor="t" wrap="squar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200" b="1">
                <a:latin typeface="Lato"/>
                <a:ea typeface="Lato"/>
                <a:cs typeface="Lato"/>
              </a:rPr>
              <a:t>Đề tài: Thiết kế hệ thống nhận diện xe ưu tiên tại biên sử dụng đa cảm biến phục vụ điều khiển giao thông thông minh</a:t>
            </a:r>
            <a:r>
              <a:rPr lang="en-US" sz="2800" b="0" dirty="0">
                <a:latin typeface="Lato"/>
                <a:ea typeface="Lato"/>
                <a:cs typeface="Lato"/>
              </a:rPr>
              <a:t/>
            </a:r>
            <a:r>
              <a:rPr lang="en-US" sz="2800" b="0">
                <a:latin typeface="Lato"/>
                <a:ea typeface="Lato"/>
                <a:cs typeface="Lato"/>
              </a:rPr>
              <a:t/>
            </a:r>
            <a:r>
              <a:rPr lang="en-US" sz="2800" b="0" dirty="0">
                <a:latin typeface="Lato"/>
                <a:ea typeface="Lato"/>
                <a:cs typeface="Lato"/>
              </a:rPr>
              <a:t/>
            </a:r>
            <a:r>
              <a:rPr lang="en-US" sz="2800" b="0">
                <a:latin typeface="Lato"/>
                <a:ea typeface="Lato"/>
                <a:cs typeface="Lato"/>
              </a:rPr>
              <a:t/>
            </a:r>
            <a:r>
              <a:rPr lang="en-US" sz="2800" b="0" dirty="0">
                <a:latin typeface="Lato"/>
                <a:ea typeface="Lato"/>
                <a:cs typeface="Lato"/>
              </a:rPr>
              <a:t/>
            </a:r>
            <a:r>
              <a:rPr lang="en-US" sz="2800" b="0">
                <a:latin typeface="Lato"/>
                <a:ea typeface="Lato"/>
                <a:cs typeface="Lato"/>
              </a:rPr>
              <a:t/>
            </a:r>
            <a:r>
              <a:rPr lang="en-US" sz="2800" b="0" dirty="0">
                <a:latin typeface="Lato"/>
                <a:ea typeface="Lato"/>
                <a:cs typeface="Lato"/>
              </a:rPr>
              <a:t/>
            </a:r>
            <a:r>
              <a:rPr lang="en-US" sz="2800" b="0">
                <a:latin typeface="Lato"/>
                <a:ea typeface="Lato"/>
                <a:cs typeface="Lato"/>
              </a:rPr>
              <a:t/>
            </a:r>
            <a:r>
              <a:rPr lang="en-US" sz="2800" b="0" dirty="0">
                <a:latin typeface="Lato"/>
                <a:ea typeface="Lato"/>
                <a:cs typeface="Lato"/>
              </a:rPr>
              <a:t/>
            </a:r>
            <a:r>
              <a:rPr lang="en-US" sz="2800" b="0">
                <a:latin typeface="Lato"/>
                <a:ea typeface="Lato"/>
                <a:cs typeface="Lato"/>
              </a:rPr>
              <a:t/>
            </a:r>
            <a:r>
              <a:rPr lang="en-US" sz="2800" b="0" dirty="0">
                <a:latin typeface="Lato"/>
                <a:ea typeface="Lato"/>
                <a:cs typeface="Lato"/>
              </a:rPr>
              <a:t/>
            </a:r>
            <a:r>
              <a:rPr lang="en-US" sz="2800" b="0">
                <a:latin typeface="Lato"/>
                <a:ea typeface="Lato"/>
                <a:cs typeface="Lato"/>
              </a:rPr>
              <a:t/>
            </a:r>
            <a:r>
              <a:rPr lang="en-US" sz="2800" b="0" dirty="0">
                <a:latin typeface="Lato"/>
                <a:ea typeface="Lato"/>
                <a:cs typeface="Lato"/>
              </a:rPr>
              <a:t/>
            </a:r>
            <a:r>
              <a:rPr lang="en-US" sz="2800" b="0">
                <a:latin typeface="Lato"/>
                <a:ea typeface="Lato"/>
                <a:cs typeface="Lato"/>
              </a:rPr>
              <a:t/>
            </a:r>
            <a:r>
              <a:rPr lang="en-US" sz="2800" b="0" dirty="0">
                <a:latin typeface="Lato"/>
                <a:ea typeface="Lato"/>
                <a:cs typeface="Lato"/>
              </a:rPr>
              <a:t/>
            </a:r>
            <a:r>
              <a:rPr lang="en-US" sz="2800" b="0">
                <a:latin typeface="Lato"/>
                <a:ea typeface="Lato"/>
                <a:cs typeface="Lato"/>
              </a:rPr>
              <a:t/>
            </a:r>
            <a:r>
              <a:rPr lang="en-US" sz="2800" b="0" dirty="0">
                <a:latin typeface="Lato"/>
                <a:ea typeface="Lato"/>
                <a:cs typeface="Lato"/>
              </a:rPr>
              <a:t/>
            </a:r>
            <a:r>
              <a:rPr lang="en-US" sz="2800" b="0">
                <a:latin typeface="Lato"/>
                <a:ea typeface="Lato"/>
                <a:cs typeface="Lato"/>
              </a:rPr>
              <a:t/>
            </a:r>
            <a:r>
              <a:rPr lang="en-US" sz="2800" b="0" dirty="0">
                <a:latin typeface="Lato"/>
                <a:ea typeface="Lato"/>
                <a:cs typeface="Lato"/>
              </a:rPr>
              <a:t/>
            </a:r>
            <a:r>
              <a:rPr lang="en-US" sz="2800" b="0">
                <a:latin typeface="Lato"/>
                <a:ea typeface="Lato"/>
                <a:cs typeface="Lato"/>
              </a:rPr>
              <a:t/>
            </a:r>
            <a:r>
              <a:rPr lang="en-US" sz="2800" b="0" dirty="0">
                <a:latin typeface="Lato"/>
                <a:ea typeface="Lato"/>
                <a:cs typeface="Lato"/>
              </a:rPr>
              <a:t/>
            </a:r>
            <a:r>
              <a:rPr lang="en-US" sz="2800" b="0">
                <a:latin typeface="Lato"/>
                <a:ea typeface="Lato"/>
                <a:cs typeface="Lato"/>
              </a:rPr>
              <a:t/>
            </a:r>
            <a:r>
              <a:rPr lang="en-US" sz="2800" b="0" dirty="0">
                <a:latin typeface="Lato"/>
                <a:ea typeface="Lato"/>
                <a:cs typeface="Lato"/>
              </a:rPr>
              <a:t/>
            </a:r>
            <a:r>
              <a:rPr lang="en-US" sz="2800" b="0">
                <a:latin typeface="Lato"/>
                <a:ea typeface="Lato"/>
                <a:cs typeface="Lato"/>
              </a:rPr>
              <a:t/>
            </a:r>
            <a:r>
              <a:rPr lang="en-US" sz="2800" b="0" dirty="0">
                <a:latin typeface="Lato"/>
                <a:ea typeface="Lato"/>
                <a:cs typeface="Lato"/>
              </a:rPr>
              <a:t/>
            </a:r>
            <a:r>
              <a:rPr lang="en-US" sz="2800" b="0">
                <a:latin typeface="Lato"/>
                <a:ea typeface="Lato"/>
                <a:cs typeface="Lato"/>
              </a:rPr>
              <a:t/>
            </a:r>
            <a:r>
              <a:rPr lang="en-US" sz="2800" b="0" dirty="0">
                <a:latin typeface="Lato"/>
                <a:ea typeface="Lato"/>
                <a:cs typeface="Lato"/>
              </a:rPr>
              <a:t/>
            </a:r>
          </a:p>
          <a:p>
            <a:r>
              <a:rPr lang="en-US" sz="2800" b="0" dirty="0">
                <a:latin typeface="Lato"/>
                <a:ea typeface="Lato"/>
                <a:cs typeface="Lato"/>
              </a:rPr>
              <a:t/>
            </a:r>
            <a:r>
              <a:rPr lang="en-US" sz="2800" b="0">
                <a:latin typeface="Lato"/>
                <a:ea typeface="Lato"/>
                <a:cs typeface="Lato"/>
              </a:rPr>
              <a:t/>
            </a:r>
            <a:r>
              <a:rPr lang="en-US" sz="2800" b="0" dirty="0">
                <a:latin typeface="Lato"/>
                <a:ea typeface="Lato"/>
                <a:cs typeface="Lato"/>
              </a:rPr>
              <a:t/>
            </a:r>
            <a:r>
              <a:rPr lang="en-US" sz="2800" b="0">
                <a:latin typeface="Lato"/>
                <a:ea typeface="Lato"/>
                <a:cs typeface="Lato"/>
              </a:rPr>
              <a:t/>
            </a:r>
            <a:r>
              <a:rPr lang="en-US" sz="2800" b="0" dirty="0">
                <a:latin typeface="Lato"/>
                <a:ea typeface="Lato"/>
                <a:cs typeface="Lato"/>
              </a:rPr>
              <a:t/>
            </a:r>
            <a:r>
              <a:rPr lang="vi-VN" sz="2800" b="0" dirty="0">
                <a:latin typeface="Lato"/>
                <a:ea typeface="Lato"/>
                <a:cs typeface="Lato"/>
              </a:rPr>
              <a:t/>
            </a:r>
            <a:r>
              <a:rPr lang="en-US" sz="2800" b="0">
                <a:latin typeface="Lato"/>
                <a:ea typeface="Lato"/>
                <a:cs typeface="Lato"/>
              </a:rPr>
              <a:t/>
            </a:r>
          </a:p>
          <a:p>
            <a:r>
              <a:rPr lang="en-US" sz="2800" b="0">
                <a:latin typeface="Lato"/>
                <a:ea typeface="Lato"/>
                <a:cs typeface="Lato"/>
              </a:rPr>
              <a:t/>
            </a:r>
            <a:r>
              <a:rPr lang="en-US" sz="2800" b="0" dirty="0">
                <a:latin typeface="Lato"/>
                <a:ea typeface="Lato"/>
                <a:cs typeface="Lato"/>
              </a:rPr>
              <a:t/>
            </a:r>
            <a:r>
              <a:rPr lang="en-US" sz="2800" b="0">
                <a:latin typeface="Lato"/>
                <a:ea typeface="Lato"/>
                <a:cs typeface="Lato"/>
              </a:rPr>
              <a:t/>
            </a:r>
            <a:r>
              <a:rPr lang="en-US" sz="2800" b="0" dirty="0">
                <a:latin typeface="Lato"/>
                <a:ea typeface="Lato"/>
                <a:cs typeface="Lato"/>
              </a:rPr>
              <a:t/>
            </a:r>
            <a:r>
              <a:rPr lang="en-US" sz="2800" b="0">
                <a:latin typeface="Lato"/>
                <a:ea typeface="Lato"/>
                <a:cs typeface="Lato"/>
              </a:rPr>
              <a:t/>
            </a:r>
            <a:r>
              <a:rPr lang="en-US" sz="2800" b="0" dirty="0">
                <a:latin typeface="Lato"/>
                <a:ea typeface="Lato"/>
                <a:cs typeface="Lato"/>
              </a:rPr>
              <a:t/>
            </a:r>
            <a:r>
              <a:rPr lang="en-US" sz="2800" b="0">
                <a:latin typeface="Lato"/>
                <a:ea typeface="Lato"/>
                <a:cs typeface="Lato"/>
              </a:rPr>
              <a:t/>
            </a:r>
            <a:r>
              <a:rPr lang="en-US" sz="2800" b="0" dirty="0">
                <a:latin typeface="Lato"/>
                <a:ea typeface="Lato"/>
                <a:cs typeface="Lato"/>
              </a:rPr>
              <a:t/>
            </a:r>
            <a:r>
              <a:rPr lang="en-US" sz="2800" b="0">
                <a:latin typeface="Lato"/>
                <a:ea typeface="Lato"/>
                <a:cs typeface="Lato"/>
              </a:rPr>
              <a:t/>
            </a:r>
            <a:r>
              <a:rPr lang="en-US" sz="2800" b="0" dirty="0">
                <a:latin typeface="Lato"/>
                <a:ea typeface="Lato"/>
                <a:cs typeface="Lato"/>
              </a:rPr>
              <a:t/>
            </a:r>
          </a:p>
          <a:p>
            <a:r>
              <a:rPr lang="en-US" b="0" dirty="0"/>
              <a:t/>
            </a:r>
            <a:endParaRPr 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365760" y="470916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/>
              <a:t>Sinh viên thực hiện: Lê Quang Huy — MSSV 20222297</a:t>
            </a:r>
          </a:p>
          <a:p>
            <a:pPr algn="ctr"/>
            <a:r>
              <a:rPr sz="1600" b="0"/>
              <a:t>Giảng viên hướng dẫn: TS. Lê Minh Hoàng</a:t>
            </a:r>
          </a:p>
          <a:p>
            <a:pPr algn="ctr"/>
            <a:r>
              <a:rPr sz="1600" b="0"/>
              <a:t>PGS.TS. Nguyễn Thanh Hường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5760720"/>
            <a:ext cx="3108960" cy="914400"/>
          </a:xfrm>
          <a:prstGeom prst="rect">
            <a:avLst/>
          </a:prstGeom>
          <a:solidFill>
            <a:srgbClr val="FFF2CC"/>
          </a:solidFill>
          <a:ln w="12700">
            <a:solidFill>
              <a:srgbClr val="E69A1E"/>
            </a:solidFill>
          </a:ln>
        </p:spPr>
        <p:txBody>
          <a:bodyPr wrap="square" lIns="54864" rIns="54864" tIns="36576" bIns="36576">
            <a:spAutoFit/>
          </a:bodyPr>
          <a:lstStyle/>
          <a:p>
            <a:r>
              <a:rPr sz="1000" i="1">
                <a:solidFill>
                  <a:srgbClr val="7F4F00"/>
                </a:solidFill>
              </a:rPr>
              <a:t>💬 Kiểm tra: (1) tên đề tài khớp quyết định giao đề tài (bản Nhiệm vụ trong quyển đang thiếu "sử dụng đa cảm biến"); (2) bậc "cử nhân/kỹ sư" nếu cần ghi; (3) bổ sung số hội đồng + ngày bảo vệ.</a:t>
            </a:r>
          </a:p>
        </p:txBody>
      </p:sp>
    </p:spTree>
    <p:extLst>
      <p:ext uri="{BB962C8B-B14F-4D97-AF65-F5344CB8AC3E}">
        <p14:creationId xmlns:p14="http://schemas.microsoft.com/office/powerpoint/2010/main" val="3880512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t>NỘI DUNG TRÌNH BÀY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57EAA0-49FA-7118-30AC-C2236D23D2F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63019"/>
            <a:ext cx="8681357" cy="5281621"/>
          </a:xfrm>
        </p:spPr>
        <p:txBody>
          <a:bodyPr wrap="square"/>
          <a:lstStyle/>
          <a:p>
            <a:pPr/>
            <a:r>
              <a:rPr sz="2200" b="0"/>
              <a:t>1. Đặt vấn đề và mục tiêu</a:t>
            </a:r>
            <a:endParaRPr lang="en-US"/>
          </a:p>
          <a:p>
            <a:pPr/>
            <a:r>
              <a:rPr sz="2200" b="0"/>
              <a:t>2. Thiết kế hệ thống</a:t>
            </a:r>
          </a:p>
          <a:p>
            <a:pPr/>
            <a:r>
              <a:rPr sz="2200" b="0"/>
              <a:t>3. Kết quả thực nghiệm và đánh giá</a:t>
            </a:r>
          </a:p>
          <a:p>
            <a:pPr/>
            <a:r>
              <a:rPr sz="2200" b="0"/>
              <a:t>4. Kết luận</a:t>
            </a:r>
          </a:p>
          <a:p>
            <a:pPr/>
            <a:r>
              <a:rPr sz="2200" b="0"/>
              <a:t>5. Triển khai mở rộng sau đồ án</a:t>
            </a:r>
          </a:p>
          <a:p>
            <a:pPr/>
            <a:r>
              <a:rPr sz="2200" b="0"/>
              <a:t>6. Hướng phát triển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032AB8-C010-2816-20E4-F2210765A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BA1382-9D79-4A22-94AF-9B0D9695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ĐẶT VẤN ĐỀ VÀ TÍNH CẤP THIẾT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28BE9-BCC9-F5C6-7281-E094CDDF0F0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/>
            <a:r>
              <a:rPr sz="1900" b="0"/>
              <a:t>Ùn tắc đô thị → xe cứu thương, cứu hỏa, công an </a:t>
            </a:r>
            <a:r>
              <a:rPr sz="1900" b="1"/>
              <a:t>khó lưu thông tại nút giao</a:t>
            </a:r>
            <a:r>
              <a:rPr sz="1900" b="0"/>
              <a:t>, nhận biết hiện nay phụ thuộc con người và CSGT điều tiết thủ công</a:t>
            </a:r>
            <a:endParaRPr lang="en-US"/>
          </a:p>
          <a:p>
            <a:pPr/>
            <a:r>
              <a:rPr sz="1900" b="1"/>
              <a:t>Các hướng hiện có và hạn chế:</a:t>
            </a:r>
          </a:p>
          <a:p>
            <a:pPr lvl="1"/>
            <a:r>
              <a:rPr sz="1800" b="0"/>
              <a:t>V2X / GPS / RFID — chi phí hạ tầng lớn, khó triển khai đồng bộ tại Việt Nam</a:t>
            </a:r>
          </a:p>
          <a:p>
            <a:pPr lvl="1"/>
            <a:r>
              <a:rPr sz="1800" b="0"/>
              <a:t>Chỉ camera — che khuất, điều kiện ánh sáng; chỉ âm thanh — nhiễu, không định vị</a:t>
            </a:r>
          </a:p>
          <a:p>
            <a:pPr/>
            <a:r>
              <a:rPr sz="1900" b="0"/>
              <a:t>→ Đề xuất: </a:t>
            </a:r>
            <a:r>
              <a:rPr sz="1900" b="1"/>
              <a:t>hệ nhận diện đa cảm biến (âm thanh + hình ảnh) xử lý tại biên</a:t>
            </a:r>
            <a:r>
              <a:rPr sz="1900" b="0"/>
              <a:t> — tận dụng hạ tầng camera giám sát sẵn có + module thu âm chi phí thấp</a:t>
            </a:r>
          </a:p>
        </p:txBody>
      </p:sp>
    </p:spTree>
    <p:extLst>
      <p:ext uri="{BB962C8B-B14F-4D97-AF65-F5344CB8AC3E}">
        <p14:creationId xmlns:p14="http://schemas.microsoft.com/office/powerpoint/2010/main" val="1498036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76D449-ABD7-1C12-43F4-4684B476F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20DE96-6724-51D0-CCEA-DE88E9698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TIÊU VÀ PHẠM VI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0B885F-64E4-04AD-9887-BBFC78833BB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 algn="l"/>
            <a:r>
              <a:rPr sz="1900" b="0"/>
              <a:t>Nhận diện xe ưu tiên bằng </a:t>
            </a:r>
            <a:r>
              <a:rPr sz="1900" b="1"/>
              <a:t>3 bằng chứng độc lập</a:t>
            </a:r>
            <a:r>
              <a:rPr sz="1900" b="0"/>
              <a:t>: còi hú + phương tiện hiện diện + đèn nhấp nháy tuần hoàn</a:t>
            </a:r>
          </a:p>
          <a:p>
            <a:pPr/>
            <a:r>
              <a:rPr sz="1900" b="0"/>
              <a:t>Hoạt động liên tục trên </a:t>
            </a:r>
            <a:r>
              <a:rPr sz="1900" b="1"/>
              <a:t>thiết bị biên (Raspberry Pi)</a:t>
            </a:r>
            <a:r>
              <a:rPr sz="1900" b="0"/>
              <a:t>, không phụ thuộc máy chủ/cloud</a:t>
            </a:r>
          </a:p>
          <a:p>
            <a:pPr/>
            <a:r>
              <a:rPr sz="1900" b="0"/>
              <a:t>Khối thị giác </a:t>
            </a:r>
            <a:r>
              <a:rPr sz="1900" b="1"/>
              <a:t>chỉ kích hoạt khi phát hiện còi</a:t>
            </a:r>
            <a:r>
              <a:rPr sz="1900" b="0"/>
              <a:t> → tiết kiệm tài nguyên tính toán</a:t>
            </a:r>
          </a:p>
          <a:p>
            <a:pPr/>
            <a:r>
              <a:rPr sz="1900" b="0"/>
              <a:t>Chống báo động giả trong môi trường nhiễu giao thông thực tế</a:t>
            </a:r>
          </a:p>
          <a:p>
            <a:pPr/>
            <a:r>
              <a:rPr sz="1900" b="0"/>
              <a:t>Phạm vi: một nút giao, 1 microphone + 1 camera</a:t>
            </a:r>
          </a:p>
        </p:txBody>
      </p:sp>
    </p:spTree>
    <p:extLst>
      <p:ext uri="{BB962C8B-B14F-4D97-AF65-F5344CB8AC3E}">
        <p14:creationId xmlns:p14="http://schemas.microsoft.com/office/powerpoint/2010/main" val="774313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5680C0-2C88-517F-2A5B-51DF903D2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19DC16-A0F7-3EDC-D31F-A6F5E36D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t>KIẾN TRÚC TỔNG THỂ HỆ THỐNG</a:t>
            </a:r>
            <a:endParaRPr lang="vi-VN">
              <a:latin typeface="Lato"/>
              <a:ea typeface="Lato"/>
              <a:cs typeface="Lato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E6218-4A32-9483-5112-947B6CE610D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 marL="0" indent="0" algn="l">
              <a:buNone/>
            </a:pPr>
            <a:r>
              <a:rPr sz="1800" b="0"/>
              <a:t>Nguyên tắc </a:t>
            </a:r>
            <a:r>
              <a:rPr sz="1800" b="1"/>
              <a:t>kích hoạt theo sự kiện</a:t>
            </a:r>
            <a:r>
              <a:rPr sz="1800" b="0"/>
              <a:t>: microphone luôn lắng nghe (tải thấp nhất) → có còi mới kích hoạt chuỗi thị giác</a:t>
            </a:r>
          </a:p>
          <a:p>
            <a:pPr/>
            <a:r>
              <a:rPr sz="1800" b="0"/>
              <a:t>Mic → CNN-BiLSTM-Attention → [kích hoạt] Camera → YOLO26n → ByteTrack → FFT → Hợp nhất 3 điều kiện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5943600" cy="1005840"/>
          </a:xfrm>
          <a:prstGeom prst="rect">
            <a:avLst/>
          </a:prstGeom>
          <a:solidFill>
            <a:srgbClr val="FFF2CC"/>
          </a:solidFill>
          <a:ln w="12700">
            <a:solidFill>
              <a:srgbClr val="E69A1E"/>
            </a:solidFill>
          </a:ln>
        </p:spPr>
        <p:txBody>
          <a:bodyPr wrap="square" lIns="54864" rIns="54864" tIns="36576" bIns="36576">
            <a:spAutoFit/>
          </a:bodyPr>
          <a:lstStyle/>
          <a:p>
            <a:r>
              <a:rPr sz="1000" i="1">
                <a:solidFill>
                  <a:srgbClr val="7F4F00"/>
                </a:solidFill>
              </a:rPr>
              <a:t>💬 CHÈN HÌNH: Sơ đồ khối kiến trúc (Hình 2-7 quyển). Repo không có file ảnh — xuất từ file gốc Word/Visio. Nên vẽ lại to, rõ, có icon mic/camera — đây là slide "xương sống" sẽ chỉ vào nhiều lần.</a:t>
            </a:r>
          </a:p>
        </p:txBody>
      </p:sp>
    </p:spTree>
    <p:extLst>
      <p:ext uri="{BB962C8B-B14F-4D97-AF65-F5344CB8AC3E}">
        <p14:creationId xmlns:p14="http://schemas.microsoft.com/office/powerpoint/2010/main" val="465753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DF3843-B3D7-C98E-D922-BF580077A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062101-A885-ECBD-C43B-2F08DF5DE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THIẾT KẾ KHỐI NHẬN DIỆN ÂM THANH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210EC-4EAE-735E-C067-E5C83227946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 marL="0" indent="0" algn="l">
              <a:buNone/>
            </a:pPr>
            <a:r>
              <a:rPr sz="1700" b="0"/>
              <a:t>Chuỗi xử lý: fs 22 050 Hz → </a:t>
            </a:r>
            <a:r>
              <a:rPr sz="1700" b="1"/>
              <a:t>lọc thông dải Butterworth</a:t>
            </a:r>
            <a:r>
              <a:rPr sz="1700" b="0"/>
              <a:t> (dải tần đặc trưng còi) → cửa sổ 2 s / trượt 0,17 s → pre-emphasis 0,97</a:t>
            </a:r>
          </a:p>
          <a:p>
            <a:pPr/>
            <a:r>
              <a:rPr sz="1700" b="0"/>
              <a:t>Đặc trưng kép: </a:t>
            </a:r>
            <a:r>
              <a:rPr sz="1700" b="1"/>
              <a:t>Mel Spectrogram (64 dải, 300–3500 Hz) + MFCC (40 hệ số)</a:t>
            </a:r>
          </a:p>
          <a:p>
            <a:pPr/>
            <a:r>
              <a:rPr sz="1700" b="0"/>
              <a:t>Phân loại: </a:t>
            </a:r>
            <a:r>
              <a:rPr sz="1700" b="1"/>
              <a:t>Dual-Stream CNN-BiLSTM-Attention</a:t>
            </a:r>
            <a:r>
              <a:rPr sz="1700" b="0"/>
              <a:t> — CNN học mẫu phổ, BiLSTM học tính chuỗi, Attention tập trung vùng chứa còi</a:t>
            </a:r>
          </a:p>
          <a:p>
            <a:pPr/>
            <a:r>
              <a:rPr sz="1700" b="1"/>
              <a:t>Voting 3/5 cửa sổ</a:t>
            </a:r>
            <a:r>
              <a:rPr sz="1700" b="0"/>
              <a:t> → chống nhiễu giật cục, tín hiệu kích hoạt ổn định</a:t>
            </a:r>
          </a:p>
        </p:txBody>
      </p:sp>
      <p:pic>
        <p:nvPicPr>
          <p:cNvPr id="5" name="Picture 4" descr="mel_spectrogram_sir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3719945"/>
            <a:ext cx="4297680" cy="23441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206240"/>
            <a:ext cx="3840480" cy="914400"/>
          </a:xfrm>
          <a:prstGeom prst="rect">
            <a:avLst/>
          </a:prstGeom>
          <a:solidFill>
            <a:srgbClr val="FFF2CC"/>
          </a:solidFill>
          <a:ln w="12700">
            <a:solidFill>
              <a:srgbClr val="E69A1E"/>
            </a:solidFill>
          </a:ln>
        </p:spPr>
        <p:txBody>
          <a:bodyPr wrap="square" lIns="54864" rIns="54864" tIns="36576" bIns="36576">
            <a:spAutoFit/>
          </a:bodyPr>
          <a:lstStyle/>
          <a:p>
            <a:r>
              <a:rPr sz="1000" i="1">
                <a:solidFill>
                  <a:srgbClr val="7F4F00"/>
                </a:solidFill>
              </a:rPr>
              <a:t>💬 Dải lọc thông dải: quyển đang ghi 3 số khác nhau (500–1600 / 600–1500 / 300–3500) — CHỐT MỘT SỐ rồi điền vào đây (xem ra_soat mục A3).</a:t>
            </a:r>
          </a:p>
        </p:txBody>
      </p:sp>
    </p:spTree>
    <p:extLst>
      <p:ext uri="{BB962C8B-B14F-4D97-AF65-F5344CB8AC3E}">
        <p14:creationId xmlns:p14="http://schemas.microsoft.com/office/powerpoint/2010/main" val="232491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8B985E-0243-06E5-AD07-35EE67F2D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90A69D-534E-AB7D-6049-1AAC242AB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PHÁT HIỆN VÀ BÁM VẾT PHƯƠNG TIỆN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ED524-8BBB-E481-D8C1-C0B24BD485E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 marL="0" indent="0" algn="l">
              <a:buNone/>
            </a:pPr>
            <a:r>
              <a:rPr sz="1700" b="0"/>
              <a:t>Vai trò trong hệ đo: cung cấp </a:t>
            </a:r>
            <a:r>
              <a:rPr sz="1700" b="1"/>
              <a:t>vùng quan tâm (ROI) ổn định theo từng xe</a:t>
            </a:r>
            <a:r>
              <a:rPr sz="1700" b="0"/>
              <a:t> cho phép đo tín hiệu đèn — không phân loại trực tiếp "xe ưu tiên"</a:t>
            </a:r>
          </a:p>
          <a:p>
            <a:pPr/>
            <a:r>
              <a:rPr sz="1700" b="1"/>
              <a:t>YOLO26n</a:t>
            </a:r>
            <a:r>
              <a:rPr sz="1700" b="0"/>
              <a:t> (nano, tối ưu thiết bị biên): phát hiện 7 lớp phương tiện</a:t>
            </a:r>
          </a:p>
          <a:p>
            <a:pPr/>
            <a:r>
              <a:rPr sz="1700" b="0"/>
              <a:t>Suy luận chậm hơn framerate → </a:t>
            </a:r>
            <a:r>
              <a:rPr sz="1700" b="1"/>
              <a:t>ByteTrack + Kalman</a:t>
            </a:r>
            <a:r>
              <a:rPr sz="1700" b="0"/>
              <a:t> duy trì vị trí và ID giữa các lần suy luận; ghép cặp 2 tầng tận dụng cả detection tin cậy thấp → giữ track qua che khuất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5029200" cy="914400"/>
          </a:xfrm>
          <a:prstGeom prst="rect">
            <a:avLst/>
          </a:prstGeom>
          <a:solidFill>
            <a:srgbClr val="FFF2CC"/>
          </a:solidFill>
          <a:ln w="12700">
            <a:solidFill>
              <a:srgbClr val="E69A1E"/>
            </a:solidFill>
          </a:ln>
        </p:spPr>
        <p:txBody>
          <a:bodyPr wrap="square" lIns="54864" rIns="54864" tIns="36576" bIns="36576">
            <a:spAutoFit/>
          </a:bodyPr>
          <a:lstStyle/>
          <a:p>
            <a:r>
              <a:rPr sz="1000" i="1">
                <a:solidFill>
                  <a:srgbClr val="7F4F00"/>
                </a:solidFill>
              </a:rPr>
              <a:t>💬 CHÈN HÌNH: Hình 3-28 quyển (theo dõi đa đối tượng có ID). Repo không có bản đúng — chụp từ quyển hoặc cắt frame từ video yolo26_track_*.mp4.</a:t>
            </a:r>
          </a:p>
        </p:txBody>
      </p:sp>
    </p:spTree>
    <p:extLst>
      <p:ext uri="{BB962C8B-B14F-4D97-AF65-F5344CB8AC3E}">
        <p14:creationId xmlns:p14="http://schemas.microsoft.com/office/powerpoint/2010/main" val="1639679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35026A-22C6-A29D-852E-2B094999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F7EFE7-43F9-4669-F2DC-CA2A55E76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XÁC THỰC ĐÈN ƯU TIÊN BẰNG FFT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120B77-FCD3-19B3-5198-D8C7886ADCC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 algn="l"/>
            <a:r>
              <a:rPr sz="1700" b="0"/>
              <a:t>Xây tín hiệu đo: ROI từng xe → </a:t>
            </a:r>
            <a:r>
              <a:rPr sz="1700" b="1"/>
              <a:t>cường độ trung bình kênh Đỏ R(t) và Xanh dương B(t)</a:t>
            </a:r>
            <a:r>
              <a:rPr sz="1700" b="0"/>
              <a:t> theo thời gian</a:t>
            </a:r>
          </a:p>
          <a:p>
            <a:pPr/>
            <a:r>
              <a:rPr sz="1700" b="0"/>
              <a:t>Loại thành phần DC → </a:t>
            </a:r>
            <a:r>
              <a:rPr sz="1700" b="1"/>
              <a:t>FFT</a:t>
            </a:r>
            <a:r>
              <a:rPr sz="1700" b="0"/>
              <a:t> → đỉnh phổ trong dải tần đèn nháy Ω</a:t>
            </a:r>
          </a:p>
          <a:p>
            <a:pPr/>
            <a:r>
              <a:rPr sz="1700" b="0"/>
              <a:t>Đại lượng quyết định: </a:t>
            </a:r>
            <a:r>
              <a:rPr sz="1700" b="1"/>
              <a:t>tỷ số đỉnh phổ / trung vị nền phổ</a:t>
            </a:r>
            <a:r>
              <a:rPr sz="1700" b="0"/>
              <a:t> — chuẩn hóa theo nhiễu nền, không dùng ngưỡng biên độ tuyệt đối (biên độ phụ thuộc khoảng cách, ánh sáng, exposure)</a:t>
            </a:r>
          </a:p>
          <a:p>
            <a:pPr/>
            <a:r>
              <a:rPr sz="1700" b="0"/>
              <a:t>Tiêu chí: ρ_R ≥ T </a:t>
            </a:r>
            <a:r>
              <a:rPr sz="1700" b="1"/>
              <a:t>hoặc</a:t>
            </a:r>
            <a:r>
              <a:rPr sz="1700" b="0"/>
              <a:t> ρ_B ≥ T (xe chỉ đèn đỏ / chỉ đèn xanh / cả hai)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5486400" cy="914400"/>
          </a:xfrm>
          <a:prstGeom prst="rect">
            <a:avLst/>
          </a:prstGeom>
          <a:solidFill>
            <a:srgbClr val="FFF2CC"/>
          </a:solidFill>
          <a:ln w="12700">
            <a:solidFill>
              <a:srgbClr val="E69A1E"/>
            </a:solidFill>
          </a:ln>
        </p:spPr>
        <p:txBody>
          <a:bodyPr wrap="square" lIns="54864" rIns="54864" tIns="36576" bIns="36576">
            <a:spAutoFit/>
          </a:bodyPr>
          <a:lstStyle/>
          <a:p>
            <a:r>
              <a:rPr sz="1000" i="1">
                <a:solidFill>
                  <a:srgbClr val="7F4F00"/>
                </a:solidFill>
              </a:rPr>
              <a:t>💬 Điền giá trị T và dải Ω sau khi chốt (quyển chưa ghi số — mục B3 ra_soat). Cân nhắc chèn Hình 2-8 (lưu đồ xác định xe ưu tiên).</a:t>
            </a:r>
          </a:p>
        </p:txBody>
      </p:sp>
    </p:spTree>
    <p:extLst>
      <p:ext uri="{BB962C8B-B14F-4D97-AF65-F5344CB8AC3E}">
        <p14:creationId xmlns:p14="http://schemas.microsoft.com/office/powerpoint/2010/main" val="3703985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8720BC-F603-2AB1-D1DF-F46B20D78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4984EC-2200-936E-0EE8-3C81BB978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TÍCH HỢP VÀ LỰA CHỌN PHẦN CỨNG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AF2F3-2938-9915-26DC-F4AA78A0BAC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 algn="l"/>
            <a:r>
              <a:rPr sz="1700" b="0"/>
              <a:t>Điều kiện kết luận: </a:t>
            </a:r>
            <a:r>
              <a:rPr sz="1700" b="1"/>
              <a:t>Siren ∧ Vehicle ∧ FlashingLight</a:t>
            </a:r>
            <a:r>
              <a:rPr sz="1700" b="0"/>
              <a:t> — cả 3 bằng chứng độc lập phải đồng thời thỏa mãn → giảm mạnh báo động giả</a:t>
            </a:r>
          </a:p>
          <a:p>
            <a:pPr/>
            <a:r>
              <a:rPr sz="1700" b="0"/>
              <a:t>Lựa chọn bộ xử lý theo ước lượng tài nguyên (STM32CubeAI): YOLO cần ~14 MB RAM + thư viện Python → </a:t>
            </a:r>
            <a:r>
              <a:rPr sz="1700" b="1"/>
              <a:t>loại STM32, chọn Raspberry Pi 4</a:t>
            </a:r>
          </a:p>
          <a:p>
            <a:pPr/>
            <a:r>
              <a:rPr sz="1700" b="0"/>
              <a:t>Cảm biến âm thanh: </a:t>
            </a:r>
            <a:r>
              <a:rPr sz="1700" b="1"/>
              <a:t>MEMS INMP441</a:t>
            </a:r>
            <a:r>
              <a:rPr sz="1700" b="0"/>
              <a:t> — ADC tích hợp, giao tiếp số I2S, ít nhiễu đường truyền</a:t>
            </a:r>
          </a:p>
          <a:p>
            <a:pPr/>
            <a:r>
              <a:rPr sz="1700" b="0"/>
              <a:t>Camera RGB </a:t>
            </a:r>
            <a:r>
              <a:rPr sz="1700" b="1"/>
              <a:t>điều chỉnh được Exposure/AWB/Gain</a:t>
            </a:r>
            <a:r>
              <a:rPr sz="1700" b="0"/>
              <a:t> — tham số thu nhận ảnh ảnh hưởng trực tiếp phép đo (kết quả ở phần sau)</a:t>
            </a:r>
          </a:p>
        </p:txBody>
      </p:sp>
    </p:spTree>
    <p:extLst>
      <p:ext uri="{BB962C8B-B14F-4D97-AF65-F5344CB8AC3E}">
        <p14:creationId xmlns:p14="http://schemas.microsoft.com/office/powerpoint/2010/main" val="1756432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2491B2-9400-3952-0AC8-F10CBBF38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78B357-9184-42D7-B507-E2D0DF982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KHỐI ÂM THANH — MÔ HÌNH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38971-0642-E1AB-5F7E-C2E31CF6642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 marL="0" indent="0" algn="l">
              <a:buNone/>
            </a:pPr>
            <a:r>
              <a:rPr sz="1700" b="0"/>
              <a:t>Tập kiểm thử 6 381 mẫu: </a:t>
            </a:r>
            <a:r>
              <a:rPr sz="1700" b="1"/>
              <a:t>Precision/Recall/F1 ≈ 0,98–0,99</a:t>
            </a:r>
            <a:r>
              <a:rPr sz="1700" b="0"/>
              <a:t> cả hai lớp; accuracy ~99%; </a:t>
            </a:r>
            <a:r>
              <a:rPr sz="1700" b="1"/>
              <a:t>ROC-AUC 0,9982</a:t>
            </a:r>
          </a:p>
          <a:p>
            <a:pPr/>
            <a:r>
              <a:rPr sz="1700" b="0"/>
              <a:t>Nhầm Non-Siren → Siren thấp → ít kích hoạt thị giác vô ích</a:t>
            </a:r>
          </a:p>
        </p:txBody>
      </p:sp>
      <p:pic>
        <p:nvPicPr>
          <p:cNvPr id="5" name="Picture 4" descr="hinh_3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87355"/>
            <a:ext cx="4114800" cy="3272009"/>
          </a:xfrm>
          <a:prstGeom prst="rect">
            <a:avLst/>
          </a:prstGeom>
        </p:spPr>
      </p:pic>
      <p:pic>
        <p:nvPicPr>
          <p:cNvPr id="6" name="Picture 5" descr="hinh_3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480310"/>
            <a:ext cx="4114800" cy="3086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0" y="5577840"/>
            <a:ext cx="4023360" cy="914400"/>
          </a:xfrm>
          <a:prstGeom prst="rect">
            <a:avLst/>
          </a:prstGeom>
          <a:solidFill>
            <a:srgbClr val="FFF2CC"/>
          </a:solidFill>
          <a:ln w="12700">
            <a:solidFill>
              <a:srgbClr val="E69A1E"/>
            </a:solidFill>
          </a:ln>
        </p:spPr>
        <p:txBody>
          <a:bodyPr wrap="square" lIns="54864" rIns="54864" tIns="36576" bIns="36576">
            <a:spAutoFit/>
          </a:bodyPr>
          <a:lstStyle/>
          <a:p>
            <a:r>
              <a:rPr sz="1000" i="1">
                <a:solidFill>
                  <a:srgbClr val="7F4F00"/>
                </a:solidFill>
              </a:rPr>
              <a:t>💬 LƯU Ý: tiêu đề nhúng trong ảnh ghi "Hình 3.19" (đánh số bản nháp) — quyển gọi là Hình 3-21. Nên render lại ảnh KHÔNG có tiêu đề nhúng để tránh hội đồng đối chiếu lệch số.</a:t>
            </a:r>
          </a:p>
        </p:txBody>
      </p:sp>
    </p:spTree>
    <p:extLst>
      <p:ext uri="{BB962C8B-B14F-4D97-AF65-F5344CB8AC3E}">
        <p14:creationId xmlns:p14="http://schemas.microsoft.com/office/powerpoint/2010/main" val="2569303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1C2DA7-6433-AB45-DEBA-4520D9D7B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9DBF27-1CEA-3443-0AFE-5132D45BA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ÂM THANH — THỰC ĐỊA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60B2D-9F3B-83D9-C61B-354FC0A08DE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 marL="0" indent="0" algn="l">
              <a:buNone/>
            </a:pPr>
            <a:r>
              <a:rPr sz="1700" b="0"/>
              <a:t>Chạy thật 15–26/06/2026, khu vực Hà Đông (ĐH Kiến trúc HN, PTIT): </a:t>
            </a:r>
            <a:r>
              <a:rPr sz="1700" b="1"/>
              <a:t>phát hiện 76/79 xe ưu tiên = 96,2%</a:t>
            </a:r>
          </a:p>
          <a:p>
            <a:pPr/>
            <a:r>
              <a:rPr sz="1700" b="0"/>
              <a:t>3 bỏ sót (giờ cao điểm, nhiều nguồn âm chồng lấn); 8 báo giả (chủ yếu còi hơi phổ gần còi ưu tiên)</a:t>
            </a:r>
          </a:p>
          <a:p>
            <a:pPr/>
            <a:r>
              <a:rPr sz="1700" b="0"/>
              <a:t>Voting 3/5 loại bỏ dự đoán giật cục → tín hiệu kích hoạt ổn định (hình dưới)</a:t>
            </a:r>
          </a:p>
        </p:txBody>
      </p:sp>
      <p:pic>
        <p:nvPicPr>
          <p:cNvPr id="5" name="Picture 4" descr="hinh_3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790" y="3017520"/>
            <a:ext cx="4080259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3017520"/>
            <a:ext cx="1920240" cy="2194560"/>
          </a:xfrm>
          <a:prstGeom prst="rect">
            <a:avLst/>
          </a:prstGeom>
          <a:solidFill>
            <a:srgbClr val="FFF2CC"/>
          </a:solidFill>
          <a:ln w="12700">
            <a:solidFill>
              <a:srgbClr val="E69A1E"/>
            </a:solidFill>
          </a:ln>
        </p:spPr>
        <p:txBody>
          <a:bodyPr wrap="square" lIns="54864" rIns="54864" tIns="36576" bIns="36576">
            <a:spAutoFit/>
          </a:bodyPr>
          <a:lstStyle/>
          <a:p>
            <a:r>
              <a:rPr sz="1000" i="1">
                <a:solidFill>
                  <a:srgbClr val="7F4F00"/>
                </a:solidFill>
              </a:rPr>
              <a:t>💬 Quyết định: có đưa bảng đầy đủ 11 khung giờ (Bảng 3-3) không hay để backup? Chuẩn bị miệng: cách xác định ground truth 79 xe (hội đồng đo lường hay hỏi). Bảng quyển thiếu khung 10h–11h.</a:t>
            </a:r>
          </a:p>
        </p:txBody>
      </p:sp>
    </p:spTree>
    <p:extLst>
      <p:ext uri="{BB962C8B-B14F-4D97-AF65-F5344CB8AC3E}">
        <p14:creationId xmlns:p14="http://schemas.microsoft.com/office/powerpoint/2010/main" val="2501192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DB245E-C26D-14A7-9C55-7226BA988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A3CD16-24B8-A449-6E2E-C8506102C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THỊ GIÁC VÀ ĐÈN ƯU TIÊN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0D1BF-4AAE-0601-61C8-213FE2DCE7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 marL="0" indent="0" algn="l">
              <a:buNone/>
            </a:pPr>
            <a:r>
              <a:rPr sz="1600" b="0"/>
              <a:t>YOLO26n: </a:t>
            </a:r>
            <a:r>
              <a:rPr sz="1600" b="1"/>
              <a:t>mAP@0.5 = 0,607</a:t>
            </a:r>
            <a:r>
              <a:rPr sz="1600" b="0"/>
              <a:t> toàn lớp (car 0,931; motorbike 0,883) — đủ cung cấp ROI ổn định cho phép đo</a:t>
            </a:r>
          </a:p>
          <a:p>
            <a:pPr/>
            <a:r>
              <a:rPr sz="1600" b="0"/>
              <a:t>Đối chứng 3 trường hợp: nguồn sáng tĩnh → phổ bẹt; </a:t>
            </a:r>
            <a:r>
              <a:rPr sz="1600" b="1"/>
              <a:t>xe thường ID 104</a:t>
            </a:r>
            <a:r>
              <a:rPr sz="1600" b="0"/>
              <a:t> → bell curve trơn, đỉnh 1,05 Hz (chuyển động xe) → loại; </a:t>
            </a:r>
            <a:r>
              <a:rPr sz="1600" b="1"/>
              <a:t>xe ưu tiên ID 13</a:t>
            </a:r>
            <a:r>
              <a:rPr sz="1600" b="0"/>
              <a:t> → dao động bật/tắt rõ, đỉnh phổ nổi bật → xác nhận</a:t>
            </a:r>
          </a:p>
        </p:txBody>
      </p:sp>
      <p:pic>
        <p:nvPicPr>
          <p:cNvPr id="5" name="Picture 4" descr="hinh_3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987040"/>
            <a:ext cx="4206240" cy="2804160"/>
          </a:xfrm>
          <a:prstGeom prst="rect">
            <a:avLst/>
          </a:prstGeom>
        </p:spPr>
      </p:pic>
      <p:pic>
        <p:nvPicPr>
          <p:cNvPr id="6" name="Picture 5" descr="hinh_3_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337560"/>
            <a:ext cx="420624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94560" y="5623560"/>
            <a:ext cx="5486400" cy="914400"/>
          </a:xfrm>
          <a:prstGeom prst="rect">
            <a:avLst/>
          </a:prstGeom>
          <a:solidFill>
            <a:srgbClr val="FFF2CC"/>
          </a:solidFill>
          <a:ln w="12700">
            <a:solidFill>
              <a:srgbClr val="E69A1E"/>
            </a:solidFill>
          </a:ln>
        </p:spPr>
        <p:txBody>
          <a:bodyPr wrap="square" lIns="54864" rIns="54864" tIns="36576" bIns="36576">
            <a:spAutoFit/>
          </a:bodyPr>
          <a:lstStyle/>
          <a:p>
            <a:r>
              <a:rPr sz="1000" i="1">
                <a:solidFill>
                  <a:srgbClr val="7F4F00"/>
                </a:solidFill>
              </a:rPr>
              <a:t>💬 CHÈN THÊM/THAY: Hình 3-34 quyển (bell curve xe thường ID 104) và Hình 3-37 (phổ FFT xe ưu tiên có đỉnh) để đủ cặp đối chứng — repo không có bản đúng số. XÁC NHẬN nguồn mAP 0,607 (PR curve) vs 0,52 (CSV val khi train) — dùng số nào chính thức?</a:t>
            </a:r>
          </a:p>
        </p:txBody>
      </p:sp>
    </p:spTree>
    <p:extLst>
      <p:ext uri="{BB962C8B-B14F-4D97-AF65-F5344CB8AC3E}">
        <p14:creationId xmlns:p14="http://schemas.microsoft.com/office/powerpoint/2010/main" val="2753765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F0E87B-BA0F-A0EC-391B-F8D21FF07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1F8DD7-9521-04B2-6362-A32A60922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ẢNH HƯỞNG THAM SỐ CAMERA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4A3F7-3390-932C-3DC5-866E6466C3F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 algn="l"/>
            <a:r>
              <a:rPr sz="1700" b="0"/>
              <a:t>Đèn ưu tiên là </a:t>
            </a:r>
            <a:r>
              <a:rPr sz="1700" b="1"/>
              <a:t>nguồn sáng chủ động</a:t>
            </a:r>
            <a:r>
              <a:rPr sz="1700" b="0"/>
              <a:t> → giảm exposure time hợp lý vẫn đủ photon tạo ảnh, nhưng </a:t>
            </a:r>
            <a:r>
              <a:rPr sz="1700" b="1"/>
              <a:t>tăng tương phản bật/tắt</a:t>
            </a:r>
            <a:r>
              <a:rPr sz="1700" b="0"/>
              <a:t> → biên độ dao động tín hiệu lớn hơn, phổ sạch hơn</a:t>
            </a:r>
          </a:p>
          <a:p>
            <a:pPr/>
            <a:r>
              <a:rPr sz="1700" b="0"/>
              <a:t>AWB: lượng pixel đỏ/xanh trong khung không đủ để cân bằng trắng can thiệp → ảnh hưởng không đáng kể</a:t>
            </a:r>
          </a:p>
          <a:p>
            <a:pPr/>
            <a:r>
              <a:rPr sz="1700" b="0"/>
              <a:t>→ Lựa chọn exposure phù hợp </a:t>
            </a:r>
            <a:r>
              <a:rPr sz="1700" b="1"/>
              <a:t>nâng rõ rệt khả năng phát hiện tính tuần hoàn</a:t>
            </a:r>
            <a:r>
              <a:rPr sz="1700" b="0"/>
              <a:t> — cơ sở cho vòng điều khiển tự động ở phần mở rộng</a:t>
            </a:r>
          </a:p>
        </p:txBody>
      </p:sp>
      <p:pic>
        <p:nvPicPr>
          <p:cNvPr id="5" name="Picture 4" descr="hinh_3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3383280"/>
            <a:ext cx="5486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439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CBBFFB-422B-49BC-A842-71297FAC7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3D8098-74B2-B964-9C17-EAB8CCEED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TÀI NGUYÊN VÀ THỜI GIAN THỰC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605E6-89D7-CD87-B62B-9EAE3F5E2E4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 marL="0" indent="0" algn="l">
              <a:buNone/>
            </a:pPr>
            <a:r>
              <a:rPr sz="1600" b="0"/>
              <a:t>Nút thắt duy nhất là YOLO → giải bằng ByteTrack duy trì ROI giữa các lần suy luận + kích hoạt theo sự kiện → hệ chạy ổn định trên Pi, camera 15 FPS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2468880"/>
          <a:ext cx="6583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/>
                        <a:t>Thành phần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Bộ nhớ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Thời gian xử lý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/>
                        <a:t>CNN-BiLSTM-Attention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61,78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71,6 ms / cửa sổ 2 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/>
                        <a:t>YOLO26n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45,23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599,7 ms / frame (~1,67 FPS)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/>
                        <a:t>ByteTrack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~14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0,51 ms / bước predict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/>
                        <a:t>FFT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~3,5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1,23 ms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/>
                        <a:t>Tổng hệ thống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164,5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" y="5394960"/>
            <a:ext cx="6583680" cy="822960"/>
          </a:xfrm>
          <a:prstGeom prst="rect">
            <a:avLst/>
          </a:prstGeom>
          <a:solidFill>
            <a:srgbClr val="FFF2CC"/>
          </a:solidFill>
          <a:ln w="12700">
            <a:solidFill>
              <a:srgbClr val="E69A1E"/>
            </a:solidFill>
          </a:ln>
        </p:spPr>
        <p:txBody>
          <a:bodyPr wrap="square" lIns="54864" rIns="54864" tIns="36576" bIns="36576">
            <a:spAutoFit/>
          </a:bodyPr>
          <a:lstStyle/>
          <a:p>
            <a:r>
              <a:rPr sz="1000" i="1">
                <a:solidFill>
                  <a:srgbClr val="7F4F00"/>
                </a:solidFill>
              </a:rPr>
              <a:t>💬 Số 71,6 ms chờ benchmark lại với model BiLSTM INT8 đang deploy (ghi chú #2 slide_outline). Ghi rõ điều kiện đo khi nói: Pi 4 Model B, RAM 4GB, 1,8 GHz.</a:t>
            </a:r>
          </a:p>
        </p:txBody>
      </p:sp>
    </p:spTree>
    <p:extLst>
      <p:ext uri="{BB962C8B-B14F-4D97-AF65-F5344CB8AC3E}">
        <p14:creationId xmlns:p14="http://schemas.microsoft.com/office/powerpoint/2010/main" val="295499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1456D9-8FD2-E6DD-F2CB-AC49D1301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5E87AF-80BF-268B-4B05-8F89023F6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23E2F-A88A-4E35-69E4-9EA013915D6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 marL="0" indent="0" algn="l">
              <a:buNone/>
            </a:pPr>
            <a:r>
              <a:rPr sz="1500" b="0"/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12064">
                <a:tc>
                  <a:txBody>
                    <a:bodyPr/>
                    <a:lstStyle/>
                    <a:p>
                      <a:r>
                        <a:rPr sz="1300" b="1"/>
                        <a:t>Mục tiêu đặt 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Kết quả đạt được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0"/>
                        <a:t>3 bằng chứng độc lập (còi + xe + đèn)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✓ 99% test / 96,2% thực địa / FFT phân biệt đúng 3 trường hợp đối chứng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0"/>
                        <a:t>Chạy liên tục trên thiết bị biên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✓ Raspberry Pi 4 — tổng 164,5 MB, luồng 15 FPS ổn định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0"/>
                        <a:t>Tiết kiệm tài nguyên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✓ Kích hoạt thị giác theo sự kiện; mic luôn nghe tải thấp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0"/>
                        <a:t>Chống báo động giả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✓ Voting 3/5 + điều kiện AND 3 bằng chứng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93192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/>
              <a:t>Đóng góp: </a:t>
            </a:r>
            <a:r>
              <a:rPr sz="1600"/>
              <a:t>hệ đa cảm biến xác thực chéo 3 tầng trên thiết bị biên chi phí thấp; phương pháp xác thực đèn bằng FFT + tỷ số đỉnh/trung vị; kiểm chứng thực địa 12 ngày.</a:t>
            </a:r>
          </a:p>
          <a:p>
            <a:r>
              <a:rPr b="1" sz="1600"/>
              <a:t>Hạn chế (nói thẳng): </a:t>
            </a:r>
            <a:r>
              <a:rPr sz="1600"/>
              <a:t>phụ thuộc khoảng cách mic và nhiễu; chất lượng FFT chịu ảnh hưởng ánh sáng/tham số camera; tốc độ suy luận YOLO giới hạn bởi phần cứng.</a:t>
            </a:r>
          </a:p>
        </p:txBody>
      </p:sp>
    </p:spTree>
    <p:extLst>
      <p:ext uri="{BB962C8B-B14F-4D97-AF65-F5344CB8AC3E}">
        <p14:creationId xmlns:p14="http://schemas.microsoft.com/office/powerpoint/2010/main" val="2679656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1F3AEB-08CC-58B1-ACAB-64C2E5A7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F6B6DF-D807-460A-AA79-9B2989C02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MỞ RỘNG SAU ĐỒ ÁN (1/2): CAMERA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CF4FED-21A9-8A6C-BA2D-46D2A686B9B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/>
            <a:r>
              <a:rPr sz="1600" b="1"/>
              <a:t>"Nộp quyển không có nghĩa là dừng nghiên cứu" — hệ thống tiếp tục được phát triển thành sản phẩm hoàn thiện</a:t>
            </a:r>
            <a:endParaRPr lang="vi-VN"/>
          </a:p>
          <a:p>
            <a:pPr/>
            <a:r>
              <a:rPr sz="1600" b="0"/>
              <a:t>Tự thiết kế board camera: SoM </a:t>
            </a:r>
            <a:r>
              <a:rPr sz="1600" b="1"/>
              <a:t>Ambarella CV25</a:t>
            </a:r>
            <a:r>
              <a:rPr sz="1600" b="0"/>
              <a:t> + cảm biến Sony, ống kính varifocal điều khiển động cơ bước (zoom / focus / P-Iris qua driver TMC)</a:t>
            </a:r>
          </a:p>
          <a:p>
            <a:pPr/>
            <a:r>
              <a:rPr sz="1600" b="0"/>
              <a:t>Mạch Altium 5 khối: nguồn — SoM — Ethernet — giao tiếp cảm biến (MIPI/I2C) — điều khiển ống kính</a:t>
            </a:r>
          </a:p>
          <a:p>
            <a:pPr/>
            <a:r>
              <a:rPr sz="1600" b="0"/>
              <a:t>Firmware C++: GStreamer bắt hình → gửi frame TCP về Pi; nhận lệnh UDP chỉnh ống kính từ xa</a:t>
            </a:r>
          </a:p>
          <a:p>
            <a:pPr/>
            <a:r>
              <a:rPr sz="1600" b="0"/>
              <a:t>Lý do: </a:t>
            </a:r>
            <a:r>
              <a:rPr sz="1600" b="1"/>
              <a:t>chủ động tham số thu nhận ảnh phục vụ phép đo</a:t>
            </a:r>
            <a:r>
              <a:rPr sz="1600" b="0"/>
              <a:t> (đúng phát hiện exposure ở phần kết quả) + làm chủ phần cứng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5486400" cy="914400"/>
          </a:xfrm>
          <a:prstGeom prst="rect">
            <a:avLst/>
          </a:prstGeom>
          <a:solidFill>
            <a:srgbClr val="FFF2CC"/>
          </a:solidFill>
          <a:ln w="12700">
            <a:solidFill>
              <a:srgbClr val="E69A1E"/>
            </a:solidFill>
          </a:ln>
        </p:spPr>
        <p:txBody>
          <a:bodyPr wrap="square" lIns="54864" rIns="54864" tIns="36576" bIns="36576">
            <a:spAutoFit/>
          </a:bodyPr>
          <a:lstStyle/>
          <a:p>
            <a:r>
              <a:rPr sz="1000" i="1">
                <a:solidFill>
                  <a:srgbClr val="7F4F00"/>
                </a:solidFill>
              </a:rPr>
              <a:t>💬 CHÈN ẢNH: (1) ảnh board camera thật / render 3D; (2) export 1–2 sheet schematic từ Altium (hardware/CV25_Camera_DATN). Repo chỉ có file .SchDoc, không có ảnh — cần bạn xuất.</a:t>
            </a:r>
          </a:p>
        </p:txBody>
      </p:sp>
    </p:spTree>
    <p:extLst>
      <p:ext uri="{BB962C8B-B14F-4D97-AF65-F5344CB8AC3E}">
        <p14:creationId xmlns:p14="http://schemas.microsoft.com/office/powerpoint/2010/main" val="2738904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2CA277-7BEF-6015-8FB5-D0CC0060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F8BF61-E517-2872-7DA1-9952C838E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MỞ RỘNG SAU ĐỒ ÁN (2/2)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FA6A1-6462-D9E6-40B3-637C5016477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/>
            <a:r>
              <a:rPr sz="1600" b="1"/>
              <a:t>Đã làm — </a:t>
            </a:r>
            <a:r>
              <a:rPr sz="1600" b="0"/>
              <a:t>lọc Butterworth thông dải 1–5 Hz zero-phase trước FFT: khử trôi nền + rung bbox, không méo pha → </a:t>
            </a:r>
            <a:r>
              <a:rPr sz="1600" b="1"/>
              <a:t>PNR 5,97 → 27,84 (+366%)</a:t>
            </a:r>
            <a:r>
              <a:rPr sz="1600" b="0"/>
              <a:t>, đỉnh 2,34 Hz (xe ID 13)</a:t>
            </a:r>
            <a:endParaRPr lang="vi-VN"/>
          </a:p>
          <a:p>
            <a:pPr/>
            <a:r>
              <a:rPr sz="1600" b="1"/>
              <a:t>Đã làm — </a:t>
            </a:r>
            <a:r>
              <a:rPr sz="1600" b="0"/>
              <a:t>vận hành hoàn thiện: máy trạng thái LISTENING→ALERT→CONFIRMED, đầu ra GPIO/MQTT cho hệ điều khiển đèn, giám sát nhiệt, tự kết nối lại</a:t>
            </a:r>
          </a:p>
          <a:p>
            <a:pPr/>
            <a:r>
              <a:rPr sz="1600" b="1"/>
              <a:t>Đang làm — </a:t>
            </a:r>
            <a:r>
              <a:rPr sz="1600" b="0"/>
              <a:t>điều khiển ống kính vòng kín: (1) vòng PI giữ độ sáng ROI bằng khẩu độ P-Iris — duy trì điều kiện đo tối ưu; (2) autofocus tìm cực trị theo độ nét (extremum-seeking, cùng nguyên lý MPPT)</a:t>
            </a:r>
          </a:p>
        </p:txBody>
      </p:sp>
      <p:pic>
        <p:nvPicPr>
          <p:cNvPr id="5" name="Picture 4" descr="so_sanh_loc_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933" y="3886200"/>
            <a:ext cx="3032373" cy="2148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46520" y="4114800"/>
            <a:ext cx="2377440" cy="1828800"/>
          </a:xfrm>
          <a:prstGeom prst="rect">
            <a:avLst/>
          </a:prstGeom>
          <a:solidFill>
            <a:srgbClr val="FFF2CC"/>
          </a:solidFill>
          <a:ln w="12700">
            <a:solidFill>
              <a:srgbClr val="E69A1E"/>
            </a:solidFill>
          </a:ln>
        </p:spPr>
        <p:txBody>
          <a:bodyPr wrap="square" lIns="54864" rIns="54864" tIns="36576" bIns="36576">
            <a:spAutoFit/>
          </a:bodyPr>
          <a:lstStyle/>
          <a:p>
            <a:r>
              <a:rPr sz="1000" i="1">
                <a:solidFill>
                  <a:srgbClr val="7F4F00"/>
                </a:solidFill>
              </a:rPr>
              <a:t>💬 Nếu vòng iris/autofocus có kết quả đo trước ngày bảo vệ → đổi "Đang làm" thành "Đã làm" + thêm đồ thị đáp ứng/hội tụ. Chưa có thì giữ nguyên — tuyệt đối không nói quá.</a:t>
            </a:r>
          </a:p>
        </p:txBody>
      </p:sp>
    </p:spTree>
    <p:extLst>
      <p:ext uri="{BB962C8B-B14F-4D97-AF65-F5344CB8AC3E}">
        <p14:creationId xmlns:p14="http://schemas.microsoft.com/office/powerpoint/2010/main" val="4075546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993A46-2534-2CA6-684D-6F38CA192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D65A23-87AF-9937-6DBE-A2F9D3ADB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HƯỚNG PHÁT TRIỂN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ADD1D-F081-6574-088F-C8E96EDE493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/>
            <a:r>
              <a:rPr sz="1800" b="0"/>
              <a:t>Mở rộng tập dữ liệu: thời tiết, ánh sáng, chủng loại xe ưu tiên đa dạng hơn</a:t>
            </a:r>
            <a:endParaRPr lang="vi-VN"/>
          </a:p>
          <a:p>
            <a:pPr/>
            <a:r>
              <a:rPr sz="1800" b="0"/>
              <a:t>Tăng tốc suy luận: mô hình tối ưu nhúng hơn, NPU/accelerator</a:t>
            </a:r>
          </a:p>
          <a:p>
            <a:pPr/>
            <a:r>
              <a:rPr sz="1800" b="0"/>
              <a:t>Kết hợp nguồn tin bổ sung: V2X, GPS, dữ liệu hạ tầng giao thông</a:t>
            </a:r>
          </a:p>
          <a:p>
            <a:pPr/>
            <a:r>
              <a:rPr sz="1800" b="0"/>
              <a:t>Tích hợp trực tiếp với hệ điều khiển đèn tín hiệu, thử nghiệm đa nút giao</a:t>
            </a:r>
          </a:p>
          <a:p>
            <a:pPr/>
            <a:r>
              <a:rPr sz="1800" b="0"/>
              <a:t>Ước lượng vận tốc xe ưu tiên qua dịch tần Doppler của còi</a:t>
            </a:r>
          </a:p>
        </p:txBody>
      </p:sp>
    </p:spTree>
    <p:extLst>
      <p:ext uri="{BB962C8B-B14F-4D97-AF65-F5344CB8AC3E}">
        <p14:creationId xmlns:p14="http://schemas.microsoft.com/office/powerpoint/2010/main" val="1472624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200AD5-C989-AF63-65DF-B7EF117E1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E2E98A-9462-389C-E159-4E011C185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— DỮ LIỆU HUẤN LUYỆN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C164B-0397-B4C2-1716-F80E35CA719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/>
            <a:r>
              <a:rPr sz="1700" b="0"/>
              <a:t>Âm thanh: 2 lớp Siren / Non-Siren; nhiều kiểu còi WAIL, YELP, HI-LO; nguồn thu thập + gán nhãn thủ công</a:t>
            </a:r>
            <a:endParaRPr lang="vi-VN"/>
          </a:p>
          <a:p>
            <a:pPr/>
            <a:r>
              <a:rPr sz="1700" b="0"/>
              <a:t>Hình ảnh: 873 ảnh (train 611 / val 174 / test 88), 7 lớp: bike, motorbike, car, truck, bus, pedestrian, exception</a:t>
            </a:r>
          </a:p>
          <a:p>
            <a:pPr/>
            <a:r>
              <a:rPr sz="1700" b="0"/>
              <a:t>Lớp exception: đối tượng không rõ thuộc 6 lớp còn lại (nửa người, che khuất mạnh)</a:t>
            </a:r>
          </a:p>
          <a:p>
            <a:pPr/>
            <a:r>
              <a:rPr sz="1700" b="0"/>
              <a:t>Trả lời "dữ liệu nhỏ": fine-tune từ pretrained + augmentation + miền hẹp (góc camera cố định)</a:t>
            </a:r>
          </a:p>
        </p:txBody>
      </p:sp>
    </p:spTree>
    <p:extLst>
      <p:ext uri="{BB962C8B-B14F-4D97-AF65-F5344CB8AC3E}">
        <p14:creationId xmlns:p14="http://schemas.microsoft.com/office/powerpoint/2010/main" val="502224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7EC7BB-E384-0F68-D5B8-17A2C9A0A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C4DB79-0535-618D-175B-F2D4AF38E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— LƯỢNG TỬ HÓA INT8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2D63F3-524B-64F3-9341-B600B3E8630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/>
            <a:r>
              <a:rPr sz="1700" b="0"/>
              <a:t>Post-training quantization sang TFLite INT8: giảm ~4× kích thước, suy luận bằng CPU Pi</a:t>
            </a:r>
            <a:endParaRPr lang="vi-VN"/>
          </a:p>
          <a:p>
            <a:pPr/>
            <a:r>
              <a:rPr sz="1700" b="0"/>
              <a:t>BiLSTM từng khó quantize (toán tử hồi tiếp) → giai đoạn đầu dùng GRU thay thế, sau khắc phục và quantize trực tiếp CNN-BiLSTM-Attention</a:t>
            </a:r>
          </a:p>
          <a:p>
            <a:pPr/>
            <a:r>
              <a:rPr sz="1700" b="1"/>
              <a:t>So sánh độ chính xác float32 ↔ INT8: [ĐIỀN SỐ TỪ NOTEBOOK QUANTIZE]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5029200" cy="640080"/>
          </a:xfrm>
          <a:prstGeom prst="rect">
            <a:avLst/>
          </a:prstGeom>
          <a:solidFill>
            <a:srgbClr val="FFF2CC"/>
          </a:solidFill>
          <a:ln w="12700">
            <a:solidFill>
              <a:srgbClr val="E69A1E"/>
            </a:solidFill>
          </a:ln>
        </p:spPr>
        <p:txBody>
          <a:bodyPr wrap="square" lIns="54864" rIns="54864" tIns="36576" bIns="36576">
            <a:spAutoFit/>
          </a:bodyPr>
          <a:lstStyle/>
          <a:p>
            <a:r>
              <a:rPr sz="1000" i="1">
                <a:solidFill>
                  <a:srgbClr val="7F4F00"/>
                </a:solidFill>
              </a:rPr>
              <a:t>💬 Điền số float32 vs INT8 trên tập test (ghi chú #5 slide_outline).</a:t>
            </a:r>
          </a:p>
        </p:txBody>
      </p:sp>
    </p:spTree>
    <p:extLst>
      <p:ext uri="{BB962C8B-B14F-4D97-AF65-F5344CB8AC3E}">
        <p14:creationId xmlns:p14="http://schemas.microsoft.com/office/powerpoint/2010/main" val="3538582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FDF2D6-81D9-5841-3E8C-01F1EE700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FF8895-1115-E087-9524-068B3EBA2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— TOÁN KHỐI XÁC THỰC ĐÈN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66760B-3C9D-0034-A78F-19D4F84F042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/>
            <a:r>
              <a:rPr sz="1700" b="0"/>
              <a:t>I_R(t) = (1/N)·Σ R_i ; I_B(t) = (1/N)·Σ B_i  (trung bình kênh màu trong ROI)</a:t>
            </a:r>
            <a:endParaRPr lang="vi-VN"/>
          </a:p>
          <a:p>
            <a:pPr/>
            <a:r>
              <a:rPr sz="1700" b="0"/>
              <a:t>X[k] = Σ x[n]·e^(−j2πkn/N) — phổ biên độ sau khi loại DC</a:t>
            </a:r>
          </a:p>
          <a:p>
            <a:pPr/>
            <a:r>
              <a:rPr sz="1700" b="0"/>
              <a:t>ρ = P_peak / median(|X(f)|), f ∈ Ω — trung vị ước lượng nền phổ, bền vững với đỉnh nhiễu cục bộ</a:t>
            </a:r>
          </a:p>
          <a:p>
            <a:pPr/>
            <a:r>
              <a:rPr sz="1700" b="0"/>
              <a:t>Kết luận đèn: ρ_R ≥ T hoặc ρ_B ≥ T</a:t>
            </a:r>
          </a:p>
          <a:p>
            <a:pPr/>
            <a:r>
              <a:rPr sz="1700" b="0"/>
              <a:t>Độ phân giải tần số: Δf = 1/T_cửa_sổ (cửa sổ 5 s → 0,2 Hz)</a:t>
            </a:r>
          </a:p>
        </p:txBody>
      </p:sp>
    </p:spTree>
    <p:extLst>
      <p:ext uri="{BB962C8B-B14F-4D97-AF65-F5344CB8AC3E}">
        <p14:creationId xmlns:p14="http://schemas.microsoft.com/office/powerpoint/2010/main" val="3891730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41518A-6097-3F9E-09C9-87D4499A7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C363CE-601C-C892-3DDC-F92835B1E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— BYTETRACK CHI TIẾT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55CFA-1C3E-C852-B855-CB4C5337BA9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/>
            <a:r>
              <a:rPr sz="1700" b="0"/>
              <a:t>Kalman 8 trạng thái: [cx, cy, a, h, vx, vy, va, vh] — mô hình vận tốc không đổi; predict giữa các lần YOLO</a:t>
            </a:r>
            <a:endParaRPr lang="vi-VN"/>
          </a:p>
          <a:p>
            <a:pPr/>
            <a:r>
              <a:rPr sz="1700" b="0"/>
              <a:t>Ghép cặp 2 tầng (Hungarian): tầng 1 detection điểm cao ↔ track theo IoU; tầng 2 phần dư ↔ detection điểm thấp → giữ track khi che khuất/suy giảm</a:t>
            </a:r>
          </a:p>
          <a:p>
            <a:pPr/>
            <a:r>
              <a:rPr sz="1700" b="0"/>
              <a:t>Track bị xóa sau N frame không khớp; không cần mạng Re-ID → nhẹ, phù hợp thiết bị biên</a:t>
            </a:r>
          </a:p>
        </p:txBody>
      </p:sp>
    </p:spTree>
    <p:extLst>
      <p:ext uri="{BB962C8B-B14F-4D97-AF65-F5344CB8AC3E}">
        <p14:creationId xmlns:p14="http://schemas.microsoft.com/office/powerpoint/2010/main" val="42336910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C8196C5E-7B93-4E81-B617-CD97C06D6032}"/>
              </a:ext>
            </a:extLst>
          </p:cNvPr>
          <p:cNvSpPr>
            <a:spLocks noGrp="1"/>
          </p:cNvSpPr>
          <p:nvPr>
            <p:ph type="chart" sz="quarter" idx="4294967295"/>
          </p:nvPr>
        </p:nvSpPr>
        <p:spPr>
          <a:xfrm>
            <a:off x="247651" y="1406769"/>
            <a:ext cx="4324350" cy="4655894"/>
          </a:xfrm>
          <a:prstGeom prst="rect">
            <a:avLst/>
          </a:prstGeom>
        </p:spPr>
        <p:txBody>
          <a:bodyPr/>
          <a:lstStyle/>
          <a:p>
            <a:endParaRPr lang="vi-V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7CB842-AD15-4F5A-8EF5-EBD6CE5F54A3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4660869" y="1406769"/>
            <a:ext cx="4083844" cy="4656137"/>
          </a:xfrm>
          <a:prstGeom prst="rect">
            <a:avLst/>
          </a:prstGeom>
        </p:spPr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2807AA-D918-A7DC-086F-4E65B0AA6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CDD9A-ED37-DFE3-EEFE-487498195C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/>
            <a:r>
              <a:rPr sz="1500" b="1"/>
              <a:t>Luồng frame (TCP :8089):</a:t>
            </a:r>
            <a:endParaRPr lang="vi-VN"/>
          </a:p>
          <a:p>
            <a:pPr/>
            <a:r>
              <a:rPr sz="1500" b="0"/>
              <a:t>GStreamer olcamerasrc → JPEG → decode BGR → resize 640×640</a:t>
            </a:r>
          </a:p>
          <a:p>
            <a:pPr/>
            <a:r>
              <a:rPr sz="1500" b="0"/>
              <a:t>Header 4 byte Big-Endian (kích thước payload = 1 228 800 byte) + BGR thô</a:t>
            </a:r>
          </a:p>
          <a:p>
            <a:pPr/>
            <a:r>
              <a:rPr sz="1500" b="0"/>
              <a:t>Phía Pi: np.frombuffer + reshape — zero-copy, không decode ảnh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AE6A53-4CB6-749A-4EE4-2BB20F19002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pPr/>
            <a:r>
              <a:rPr sz="1500" b="1"/>
              <a:t>Kênh điều khiển (UDP :8080):</a:t>
            </a:r>
            <a:endParaRPr lang="vi-VN"/>
          </a:p>
          <a:p>
            <a:pPr/>
            <a:r>
              <a:rPr sz="1500" b="0"/>
              <a:t>CALIB — hiệu chuẩn 3 động cơ về vị trí 0</a:t>
            </a:r>
          </a:p>
          <a:p>
            <a:pPr/>
            <a:r>
              <a:rPr sz="1500" b="0"/>
              <a:t>ZOOM:&lt;n&gt; / FOCUS:&lt;n&gt; — di chuyển tương đối n bước</a:t>
            </a:r>
          </a:p>
          <a:p>
            <a:pPr/>
            <a:r>
              <a:rPr sz="1500" b="0"/>
              <a:t>IRIS:&lt;pos&gt; — đặt vị trí khẩu độ tuyệt đối</a:t>
            </a:r>
          </a:p>
          <a:p>
            <a:pPr/>
            <a:r>
              <a:rPr sz="1500" b="0"/>
              <a:t>LensController → TmcDriver (ioctl /dev/tmc_dev0)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5A26AC-D483-21DF-723D-9F915EC38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— GIAO THỨC CAMERA ↔ PI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923616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11219-8684-45FC-A126-E067924AC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AD8E52-349C-EF76-69EB-C09C607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BBC82-5CC8-86B3-6CF8-6714E6B82E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/>
            <a:r>
              <a:rPr sz="1500" b="0"/>
              <a:t>Điều kiện đo: Pi 4 Model B Rev 1.5, RAM 4 GB, CPU tối đa 1,8 GHz, Python 3.13, backend TFLite (ai_edge_litert)</a:t>
            </a:r>
            <a:endParaRPr lang="en-US"/>
          </a:p>
          <a:p>
            <a:pPr/>
            <a:r>
              <a:rPr sz="1500" b="0"/>
              <a:t>RAM baseline 33,7 MB → +YOLO INT8 = 78,9 MB → +Siren INT8 ≈ 104,3 MB → tổng ước tính 164,5 MB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E6E8B-CA6C-55F9-B624-AB2BC25AF2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pPr/>
            <a:r>
              <a:rPr sz="1500" b="0"/>
              <a:t>Decode video 1280×720@15FPS: 10,7 ms (93 FPS khả dụng); resize 1,7 ms</a:t>
            </a:r>
            <a:endParaRPr lang="en-US"/>
          </a:p>
          <a:p>
            <a:pPr/>
            <a:r>
              <a:rPr sz="1500" b="0"/>
              <a:t>ByteTrack: 0,13 ms (5 track) → 1,28 ms (50 track)</a:t>
            </a:r>
          </a:p>
          <a:p>
            <a:pPr/>
            <a:r>
              <a:rPr sz="1500" b="0"/>
              <a:t>HSV extraction 0,48 ms + FFT 0,75 ms mỗi track</a:t>
            </a:r>
          </a:p>
          <a:p>
            <a:pPr/>
            <a:r>
              <a:rPr sz="1500" b="0"/>
              <a:t>Nguồn: benchmark_results.json (scripts/benchmark_pi.py)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31D202-5F2A-ABF7-24FC-3F311F56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— BENCHMARK TRÊN PI 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406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7ECF-1792-4255-AF79-1338056A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365B-2C63-46A3-AD64-BA52831BEC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697B-E2F6-452F-B4AF-9444ACC6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0127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E207-A869-B342-B6D9-77005A268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— HAI VÒNG ĐIỀU KHIỂN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994D1-B0B9-97CB-A9B2-4F2D31319A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/>
            <a:r>
              <a:rPr sz="1400" b="1"/>
              <a:t>VÒNG IRIS — điều chỉnh bám giá trị đặt:</a:t>
            </a:r>
            <a:endParaRPr lang="en-US"/>
          </a:p>
          <a:p>
            <a:pPr/>
            <a:r>
              <a:rPr sz="1400" b="0"/>
              <a:t>Setpoint: I_ref = mức sáng ROI cho PNR tốt nhất</a:t>
            </a:r>
          </a:p>
          <a:p>
            <a:pPr/>
            <a:r>
              <a:rPr sz="1400" b="0"/>
              <a:t>Đối tượng: khuếch đại tĩnh + trễ chết 1–3 frame (FOPDT), nhận dạng bằng đáp ứng bậc thang</a:t>
            </a:r>
          </a:p>
          <a:p>
            <a:pPr/>
            <a:r>
              <a:rPr sz="1400" b="0"/>
              <a:t>Bộ điều khiển PI/I + anti-windup; phân tích dự trữ biên/pha</a:t>
            </a:r>
          </a:p>
          <a:p>
            <a:pPr/>
            <a:r>
              <a:rPr sz="1400" b="0"/>
              <a:t>Kiểm chứng: đáp ứng quá độ khi che/rọi sáng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8968A-F2A2-8005-6E03-B78E65864C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pPr/>
            <a:r>
              <a:rPr sz="1400" b="1"/>
              <a:t>VÒNG FOCUS — tìm cực trị (extremum-seeking):</a:t>
            </a:r>
            <a:endParaRPr lang="en-US"/>
          </a:p>
          <a:p>
            <a:pPr/>
            <a:r>
              <a:rPr sz="1400" b="0"/>
              <a:t>Không có setpoint thường: "giá trị đặt" là dS/dp = 0 (đỉnh độ nét)</a:t>
            </a:r>
          </a:p>
          <a:p>
            <a:pPr/>
            <a:r>
              <a:rPr sz="1400" b="0"/>
              <a:t>Tại đỉnh, khuếch đại tuyến tính hóa = 0 → LTI không dùng được → dò bằng nhiễu loạn (P&amp;O, cùng nguyên lý MPPT)</a:t>
            </a:r>
          </a:p>
          <a:p>
            <a:pPr/>
            <a:r>
              <a:rPr sz="1400" b="0"/>
              <a:t>Phân tích hội tụ (đơn đỉnh + bước dò); backlash → tiếp cận một chiều sau CALIB</a:t>
            </a:r>
          </a:p>
          <a:p>
            <a:pPr/>
            <a:r>
              <a:rPr sz="1400" b="0"/>
              <a:t>Kiểm chứng: đồ thị S(k) hội tụ theo số bước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CF161-A6C1-F8C7-C9A5-5CD5BD5C1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4988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5FD9F-F079-E7CB-275B-4B407F73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3DABA-0E07-DDEE-86EE-B4224D9C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5E0C5-7F9C-BDE6-162B-F94E54DA8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286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2BCA-A953-E4E8-9DF4-80675416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— ĐỘ KHÔNG ĐẢM BẢO ĐO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D60EA-6653-3AE7-7289-DD8479DAF2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/>
            <a:r>
              <a:rPr sz="1500" b="0"/>
              <a:t>Độ phân giải: Δf = 1/T_cửa_sổ — cửa sổ 5 s → 0,2 Hz</a:t>
            </a:r>
            <a:endParaRPr lang="en-US"/>
          </a:p>
          <a:p>
            <a:pPr/>
            <a:r>
              <a:rPr sz="1500" b="0"/>
              <a:t>Trade-off: cửa sổ dài → phân giải mịn nhưng trễ phát hiện tăng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E6E5C-9744-5884-9CF6-BA4CC119CD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pPr/>
            <a:r>
              <a:rPr sz="1500" b="0"/>
              <a:t>Jitter chu kỳ khung hình = lấy mẫu không đều → lệch/loang đỉnh phổ; giải pháp: nội suy lại về lưới thời gian đều</a:t>
            </a:r>
            <a:endParaRPr lang="en-US"/>
          </a:p>
          <a:p>
            <a:pPr/>
            <a:r>
              <a:rPr sz="1500" b="0"/>
              <a:t>Khoảng cách xa → ROI nhỏ → SNR tín hiệu màu giảm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85C89-7D1D-5A90-6795-7FC575F1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0695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F331FF-7367-F4F4-10DC-9F4CB489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942A98-C171-982E-551D-E59FBFEF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5BA0D-33C2-2FFC-BFBC-D1CF38376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574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a93bfa5-a50d-46a4-9f94-e2d00fea4cf9" xsi:nil="true"/>
    <lcf76f155ced4ddcb4097134ff3c332f xmlns="fbdd0e0e-e6d6-4753-b993-fd9c7a157a34">
      <Terms xmlns="http://schemas.microsoft.com/office/infopath/2007/PartnerControls"/>
    </lcf76f155ced4ddcb4097134ff3c332f>
    <SharedWithUsers xmlns="ba93bfa5-a50d-46a4-9f94-e2d00fea4cf9">
      <UserInfo>
        <DisplayName>Cán bộ viên chức Bách Khoa</DisplayName>
        <AccountId>7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7D97228AADCF4E9164DB7A0F7EF991" ma:contentTypeVersion="14" ma:contentTypeDescription="Create a new document." ma:contentTypeScope="" ma:versionID="e8a33be2cc4b26cdc391c5512956c30f">
  <xsd:schema xmlns:xsd="http://www.w3.org/2001/XMLSchema" xmlns:xs="http://www.w3.org/2001/XMLSchema" xmlns:p="http://schemas.microsoft.com/office/2006/metadata/properties" xmlns:ns2="ba93bfa5-a50d-46a4-9f94-e2d00fea4cf9" xmlns:ns3="fbdd0e0e-e6d6-4753-b993-fd9c7a157a34" targetNamespace="http://schemas.microsoft.com/office/2006/metadata/properties" ma:root="true" ma:fieldsID="9e975c2668369ee41ee8909f6d27b7eb" ns2:_="" ns3:_="">
    <xsd:import namespace="ba93bfa5-a50d-46a4-9f94-e2d00fea4cf9"/>
    <xsd:import namespace="fbdd0e0e-e6d6-4753-b993-fd9c7a157a3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93bfa5-a50d-46a4-9f94-e2d00fea4cf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ef04bd71-5f88-42d7-abf8-7483b3b74d27}" ma:internalName="TaxCatchAll" ma:showField="CatchAllData" ma:web="ba93bfa5-a50d-46a4-9f94-e2d00fea4c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dd0e0e-e6d6-4753-b993-fd9c7a157a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546fe6cf-c6c6-432e-bc3b-e1a865b28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0F9A87E-05AD-4496-9B0B-B96F1838124A}">
  <ds:schemaRefs>
    <ds:schemaRef ds:uri="http://schemas.microsoft.com/office/2006/metadata/properties"/>
    <ds:schemaRef ds:uri="http://www.w3.org/XML/1998/namespace"/>
    <ds:schemaRef ds:uri="ba93bfa5-a50d-46a4-9f94-e2d00fea4c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elements/1.1/"/>
    <ds:schemaRef ds:uri="http://purl.org/dc/terms/"/>
    <ds:schemaRef ds:uri="fbdd0e0e-e6d6-4753-b993-fd9c7a157a34"/>
  </ds:schemaRefs>
</ds:datastoreItem>
</file>

<file path=customXml/itemProps2.xml><?xml version="1.0" encoding="utf-8"?>
<ds:datastoreItem xmlns:ds="http://schemas.openxmlformats.org/officeDocument/2006/customXml" ds:itemID="{A7ED6A8D-94D6-4AC0-B3F2-8131969DAA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93bfa5-a50d-46a4-9f94-e2d00fea4cf9"/>
    <ds:schemaRef ds:uri="fbdd0e0e-e6d6-4753-b993-fd9c7a157a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FC930D-5681-484F-8561-F7AC6B41F8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</TotalTime>
  <Words>2041</Words>
  <Application>Microsoft Office PowerPoint</Application>
  <PresentationFormat>On-screen Show (4:3)</PresentationFormat>
  <Paragraphs>139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Instruction</vt:lpstr>
      <vt:lpstr>Instruction</vt:lpstr>
      <vt:lpstr>Instruction</vt:lpstr>
      <vt:lpstr>LITERATURE REVIEW  </vt:lpstr>
      <vt:lpstr>LITERATURE REVIEW  </vt:lpstr>
      <vt:lpstr>LITERATURE REVIEW  </vt:lpstr>
      <vt:lpstr>LITERATURE REVIEW  </vt:lpstr>
      <vt:lpstr>METHODOLOGY</vt:lpstr>
      <vt:lpstr>METHODOLOGY</vt:lpstr>
      <vt:lpstr>METHODOLOGY</vt:lpstr>
      <vt:lpstr>SOIL HUMIDITY SENSOR SYSTEM AND RELAY CONTROL</vt:lpstr>
      <vt:lpstr>SOIL HUMIDITY SENSOR SYSTEM AND RELAY CONTROL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Le Viet Hoang 20222279</cp:lastModifiedBy>
  <cp:revision>27</cp:revision>
  <dcterms:created xsi:type="dcterms:W3CDTF">2021-05-28T04:32:29Z</dcterms:created>
  <dcterms:modified xsi:type="dcterms:W3CDTF">2026-07-10T11:16:55Z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0x010100457D97228AADCF4E9164DB7A0F7EF991</vt:lpwstr>
  </property>
  <property fmtid="{D5CDD505-2E9C-101B-9397-08002B2CF9AE}" pid="3" name="MediaServiceImageTags">
    <vt:lpwstr/>
  </property>
</Properties>
</file>